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456"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E245F-5493-E7FE-EA0B-0D03674228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CCC647F1-511F-78C8-6131-1E0F0E0FB9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63801D61-F87C-25B0-4CFA-753CF87FA7A9}"/>
              </a:ext>
            </a:extLst>
          </p:cNvPr>
          <p:cNvSpPr>
            <a:spLocks noGrp="1"/>
          </p:cNvSpPr>
          <p:nvPr>
            <p:ph type="dt" sz="half" idx="10"/>
          </p:nvPr>
        </p:nvSpPr>
        <p:spPr/>
        <p:txBody>
          <a:bodyPr/>
          <a:lstStyle/>
          <a:p>
            <a:fld id="{A2406558-6961-4CDA-B4A9-D8DF30487C51}" type="datetimeFigureOut">
              <a:rPr lang="en-SG" smtClean="0"/>
              <a:t>3/9/2025</a:t>
            </a:fld>
            <a:endParaRPr lang="en-SG"/>
          </a:p>
        </p:txBody>
      </p:sp>
      <p:sp>
        <p:nvSpPr>
          <p:cNvPr id="5" name="Footer Placeholder 4">
            <a:extLst>
              <a:ext uri="{FF2B5EF4-FFF2-40B4-BE49-F238E27FC236}">
                <a16:creationId xmlns:a16="http://schemas.microsoft.com/office/drawing/2014/main" id="{34A88259-C15E-0EDE-E0FA-3159F267A87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51A4829-7681-878D-E70A-2C0765F5319E}"/>
              </a:ext>
            </a:extLst>
          </p:cNvPr>
          <p:cNvSpPr>
            <a:spLocks noGrp="1"/>
          </p:cNvSpPr>
          <p:nvPr>
            <p:ph type="sldNum" sz="quarter" idx="12"/>
          </p:nvPr>
        </p:nvSpPr>
        <p:spPr/>
        <p:txBody>
          <a:bodyPr/>
          <a:lstStyle/>
          <a:p>
            <a:fld id="{F784709D-6B41-4B1F-BE84-829DA9E37C98}" type="slidenum">
              <a:rPr lang="en-SG" smtClean="0"/>
              <a:t>‹#›</a:t>
            </a:fld>
            <a:endParaRPr lang="en-SG"/>
          </a:p>
        </p:txBody>
      </p:sp>
    </p:spTree>
    <p:extLst>
      <p:ext uri="{BB962C8B-B14F-4D97-AF65-F5344CB8AC3E}">
        <p14:creationId xmlns:p14="http://schemas.microsoft.com/office/powerpoint/2010/main" val="3574460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81C34-0A19-83E8-A207-BFD11476FB8D}"/>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3ED7B6DD-A24D-1247-3FED-5DAA08668E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04CCE29-56AD-DEB5-68C9-F80B3E9A3638}"/>
              </a:ext>
            </a:extLst>
          </p:cNvPr>
          <p:cNvSpPr>
            <a:spLocks noGrp="1"/>
          </p:cNvSpPr>
          <p:nvPr>
            <p:ph type="dt" sz="half" idx="10"/>
          </p:nvPr>
        </p:nvSpPr>
        <p:spPr/>
        <p:txBody>
          <a:bodyPr/>
          <a:lstStyle/>
          <a:p>
            <a:fld id="{A2406558-6961-4CDA-B4A9-D8DF30487C51}" type="datetimeFigureOut">
              <a:rPr lang="en-SG" smtClean="0"/>
              <a:t>3/9/2025</a:t>
            </a:fld>
            <a:endParaRPr lang="en-SG"/>
          </a:p>
        </p:txBody>
      </p:sp>
      <p:sp>
        <p:nvSpPr>
          <p:cNvPr id="5" name="Footer Placeholder 4">
            <a:extLst>
              <a:ext uri="{FF2B5EF4-FFF2-40B4-BE49-F238E27FC236}">
                <a16:creationId xmlns:a16="http://schemas.microsoft.com/office/drawing/2014/main" id="{6018ACB1-D4E1-431F-E01E-56A18D9C897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08C1ACB-F4F3-471E-894C-873B7641CDEB}"/>
              </a:ext>
            </a:extLst>
          </p:cNvPr>
          <p:cNvSpPr>
            <a:spLocks noGrp="1"/>
          </p:cNvSpPr>
          <p:nvPr>
            <p:ph type="sldNum" sz="quarter" idx="12"/>
          </p:nvPr>
        </p:nvSpPr>
        <p:spPr/>
        <p:txBody>
          <a:bodyPr/>
          <a:lstStyle/>
          <a:p>
            <a:fld id="{F784709D-6B41-4B1F-BE84-829DA9E37C98}" type="slidenum">
              <a:rPr lang="en-SG" smtClean="0"/>
              <a:t>‹#›</a:t>
            </a:fld>
            <a:endParaRPr lang="en-SG"/>
          </a:p>
        </p:txBody>
      </p:sp>
    </p:spTree>
    <p:extLst>
      <p:ext uri="{BB962C8B-B14F-4D97-AF65-F5344CB8AC3E}">
        <p14:creationId xmlns:p14="http://schemas.microsoft.com/office/powerpoint/2010/main" val="2429416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8708D-E363-A276-948C-7F8CFE05FA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CAF23C06-4C57-5B7C-6306-D7C635DFFF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7C8C13-BBB0-2D9C-76D9-69851CE7DA21}"/>
              </a:ext>
            </a:extLst>
          </p:cNvPr>
          <p:cNvSpPr>
            <a:spLocks noGrp="1"/>
          </p:cNvSpPr>
          <p:nvPr>
            <p:ph type="dt" sz="half" idx="10"/>
          </p:nvPr>
        </p:nvSpPr>
        <p:spPr/>
        <p:txBody>
          <a:bodyPr/>
          <a:lstStyle/>
          <a:p>
            <a:fld id="{A2406558-6961-4CDA-B4A9-D8DF30487C51}" type="datetimeFigureOut">
              <a:rPr lang="en-SG" smtClean="0"/>
              <a:t>3/9/2025</a:t>
            </a:fld>
            <a:endParaRPr lang="en-SG"/>
          </a:p>
        </p:txBody>
      </p:sp>
      <p:sp>
        <p:nvSpPr>
          <p:cNvPr id="5" name="Footer Placeholder 4">
            <a:extLst>
              <a:ext uri="{FF2B5EF4-FFF2-40B4-BE49-F238E27FC236}">
                <a16:creationId xmlns:a16="http://schemas.microsoft.com/office/drawing/2014/main" id="{06E9BD10-D06D-74A1-A4A1-0F523BD33DE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4FFDF91-4C6A-12A0-ADC7-34B8915EFECF}"/>
              </a:ext>
            </a:extLst>
          </p:cNvPr>
          <p:cNvSpPr>
            <a:spLocks noGrp="1"/>
          </p:cNvSpPr>
          <p:nvPr>
            <p:ph type="sldNum" sz="quarter" idx="12"/>
          </p:nvPr>
        </p:nvSpPr>
        <p:spPr/>
        <p:txBody>
          <a:bodyPr/>
          <a:lstStyle/>
          <a:p>
            <a:fld id="{F784709D-6B41-4B1F-BE84-829DA9E37C98}" type="slidenum">
              <a:rPr lang="en-SG" smtClean="0"/>
              <a:t>‹#›</a:t>
            </a:fld>
            <a:endParaRPr lang="en-SG"/>
          </a:p>
        </p:txBody>
      </p:sp>
    </p:spTree>
    <p:extLst>
      <p:ext uri="{BB962C8B-B14F-4D97-AF65-F5344CB8AC3E}">
        <p14:creationId xmlns:p14="http://schemas.microsoft.com/office/powerpoint/2010/main" val="1295778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2E6CF-6097-481F-CEA7-2B44B14A5E14}"/>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64D7D76E-6C38-3E96-9EF6-96DBF9AA14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6C51DED3-43B8-8FDB-AC41-A4FF284A39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05557E61-F376-5D1E-EC0D-E46C83D47800}"/>
              </a:ext>
            </a:extLst>
          </p:cNvPr>
          <p:cNvSpPr>
            <a:spLocks noGrp="1"/>
          </p:cNvSpPr>
          <p:nvPr>
            <p:ph type="dt" sz="half" idx="10"/>
          </p:nvPr>
        </p:nvSpPr>
        <p:spPr/>
        <p:txBody>
          <a:bodyPr/>
          <a:lstStyle/>
          <a:p>
            <a:fld id="{A2406558-6961-4CDA-B4A9-D8DF30487C51}" type="datetimeFigureOut">
              <a:rPr lang="en-SG" smtClean="0"/>
              <a:t>3/9/2025</a:t>
            </a:fld>
            <a:endParaRPr lang="en-SG"/>
          </a:p>
        </p:txBody>
      </p:sp>
      <p:sp>
        <p:nvSpPr>
          <p:cNvPr id="6" name="Footer Placeholder 5">
            <a:extLst>
              <a:ext uri="{FF2B5EF4-FFF2-40B4-BE49-F238E27FC236}">
                <a16:creationId xmlns:a16="http://schemas.microsoft.com/office/drawing/2014/main" id="{40445D53-6C46-E5B4-B6FE-F493877AF79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D67B719-67FB-56FD-F6F1-12313501493A}"/>
              </a:ext>
            </a:extLst>
          </p:cNvPr>
          <p:cNvSpPr>
            <a:spLocks noGrp="1"/>
          </p:cNvSpPr>
          <p:nvPr>
            <p:ph type="sldNum" sz="quarter" idx="12"/>
          </p:nvPr>
        </p:nvSpPr>
        <p:spPr/>
        <p:txBody>
          <a:bodyPr/>
          <a:lstStyle/>
          <a:p>
            <a:fld id="{F784709D-6B41-4B1F-BE84-829DA9E37C98}" type="slidenum">
              <a:rPr lang="en-SG" smtClean="0"/>
              <a:t>‹#›</a:t>
            </a:fld>
            <a:endParaRPr lang="en-SG"/>
          </a:p>
        </p:txBody>
      </p:sp>
    </p:spTree>
    <p:extLst>
      <p:ext uri="{BB962C8B-B14F-4D97-AF65-F5344CB8AC3E}">
        <p14:creationId xmlns:p14="http://schemas.microsoft.com/office/powerpoint/2010/main" val="2195112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D212-2F65-320E-A990-F6B0DACFCE85}"/>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25266492-F9BD-B1DA-0E85-50A8E35CF0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DE9F5A-C11D-EF83-783E-C26572111F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0FF33C7C-54D0-59A0-BCE9-AC13E05288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B95BB5-1801-2400-9DD8-4C8DD31626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F0D507FD-8FC1-4281-E001-E80E744B783C}"/>
              </a:ext>
            </a:extLst>
          </p:cNvPr>
          <p:cNvSpPr>
            <a:spLocks noGrp="1"/>
          </p:cNvSpPr>
          <p:nvPr>
            <p:ph type="dt" sz="half" idx="10"/>
          </p:nvPr>
        </p:nvSpPr>
        <p:spPr/>
        <p:txBody>
          <a:bodyPr/>
          <a:lstStyle/>
          <a:p>
            <a:fld id="{A2406558-6961-4CDA-B4A9-D8DF30487C51}" type="datetimeFigureOut">
              <a:rPr lang="en-SG" smtClean="0"/>
              <a:t>3/9/2025</a:t>
            </a:fld>
            <a:endParaRPr lang="en-SG"/>
          </a:p>
        </p:txBody>
      </p:sp>
      <p:sp>
        <p:nvSpPr>
          <p:cNvPr id="8" name="Footer Placeholder 7">
            <a:extLst>
              <a:ext uri="{FF2B5EF4-FFF2-40B4-BE49-F238E27FC236}">
                <a16:creationId xmlns:a16="http://schemas.microsoft.com/office/drawing/2014/main" id="{AF269B3F-3BDB-D09E-1EA8-3538E333F198}"/>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AE7DDDEC-5CF6-B61B-52F7-322DCC538625}"/>
              </a:ext>
            </a:extLst>
          </p:cNvPr>
          <p:cNvSpPr>
            <a:spLocks noGrp="1"/>
          </p:cNvSpPr>
          <p:nvPr>
            <p:ph type="sldNum" sz="quarter" idx="12"/>
          </p:nvPr>
        </p:nvSpPr>
        <p:spPr/>
        <p:txBody>
          <a:bodyPr/>
          <a:lstStyle/>
          <a:p>
            <a:fld id="{F784709D-6B41-4B1F-BE84-829DA9E37C98}" type="slidenum">
              <a:rPr lang="en-SG" smtClean="0"/>
              <a:t>‹#›</a:t>
            </a:fld>
            <a:endParaRPr lang="en-SG"/>
          </a:p>
        </p:txBody>
      </p:sp>
    </p:spTree>
    <p:extLst>
      <p:ext uri="{BB962C8B-B14F-4D97-AF65-F5344CB8AC3E}">
        <p14:creationId xmlns:p14="http://schemas.microsoft.com/office/powerpoint/2010/main" val="1099351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7331C-2509-BFE9-4302-7A192C0C644D}"/>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A7C1643A-9A1A-0F13-61B1-3809473B2C58}"/>
              </a:ext>
            </a:extLst>
          </p:cNvPr>
          <p:cNvSpPr>
            <a:spLocks noGrp="1"/>
          </p:cNvSpPr>
          <p:nvPr>
            <p:ph type="dt" sz="half" idx="10"/>
          </p:nvPr>
        </p:nvSpPr>
        <p:spPr/>
        <p:txBody>
          <a:bodyPr/>
          <a:lstStyle/>
          <a:p>
            <a:fld id="{A2406558-6961-4CDA-B4A9-D8DF30487C51}" type="datetimeFigureOut">
              <a:rPr lang="en-SG" smtClean="0"/>
              <a:t>3/9/2025</a:t>
            </a:fld>
            <a:endParaRPr lang="en-SG"/>
          </a:p>
        </p:txBody>
      </p:sp>
      <p:sp>
        <p:nvSpPr>
          <p:cNvPr id="4" name="Footer Placeholder 3">
            <a:extLst>
              <a:ext uri="{FF2B5EF4-FFF2-40B4-BE49-F238E27FC236}">
                <a16:creationId xmlns:a16="http://schemas.microsoft.com/office/drawing/2014/main" id="{01025CC4-1591-0431-6DE6-FFCCE486E3C2}"/>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8D7155B3-40E1-D84F-781E-6F4895B66E07}"/>
              </a:ext>
            </a:extLst>
          </p:cNvPr>
          <p:cNvSpPr>
            <a:spLocks noGrp="1"/>
          </p:cNvSpPr>
          <p:nvPr>
            <p:ph type="sldNum" sz="quarter" idx="12"/>
          </p:nvPr>
        </p:nvSpPr>
        <p:spPr/>
        <p:txBody>
          <a:bodyPr/>
          <a:lstStyle/>
          <a:p>
            <a:fld id="{F784709D-6B41-4B1F-BE84-829DA9E37C98}" type="slidenum">
              <a:rPr lang="en-SG" smtClean="0"/>
              <a:t>‹#›</a:t>
            </a:fld>
            <a:endParaRPr lang="en-SG"/>
          </a:p>
        </p:txBody>
      </p:sp>
    </p:spTree>
    <p:extLst>
      <p:ext uri="{BB962C8B-B14F-4D97-AF65-F5344CB8AC3E}">
        <p14:creationId xmlns:p14="http://schemas.microsoft.com/office/powerpoint/2010/main" val="1903342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FF64E8-7D26-7FB6-614D-1DF118B71207}"/>
              </a:ext>
            </a:extLst>
          </p:cNvPr>
          <p:cNvSpPr>
            <a:spLocks noGrp="1"/>
          </p:cNvSpPr>
          <p:nvPr>
            <p:ph type="dt" sz="half" idx="10"/>
          </p:nvPr>
        </p:nvSpPr>
        <p:spPr/>
        <p:txBody>
          <a:bodyPr/>
          <a:lstStyle/>
          <a:p>
            <a:fld id="{A2406558-6961-4CDA-B4A9-D8DF30487C51}" type="datetimeFigureOut">
              <a:rPr lang="en-SG" smtClean="0"/>
              <a:t>3/9/2025</a:t>
            </a:fld>
            <a:endParaRPr lang="en-SG"/>
          </a:p>
        </p:txBody>
      </p:sp>
      <p:sp>
        <p:nvSpPr>
          <p:cNvPr id="3" name="Footer Placeholder 2">
            <a:extLst>
              <a:ext uri="{FF2B5EF4-FFF2-40B4-BE49-F238E27FC236}">
                <a16:creationId xmlns:a16="http://schemas.microsoft.com/office/drawing/2014/main" id="{1783832D-77DE-49AD-13D9-59964A958FA7}"/>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BED23AE2-4804-5359-9707-3834A577A60B}"/>
              </a:ext>
            </a:extLst>
          </p:cNvPr>
          <p:cNvSpPr>
            <a:spLocks noGrp="1"/>
          </p:cNvSpPr>
          <p:nvPr>
            <p:ph type="sldNum" sz="quarter" idx="12"/>
          </p:nvPr>
        </p:nvSpPr>
        <p:spPr/>
        <p:txBody>
          <a:bodyPr/>
          <a:lstStyle/>
          <a:p>
            <a:fld id="{F784709D-6B41-4B1F-BE84-829DA9E37C98}" type="slidenum">
              <a:rPr lang="en-SG" smtClean="0"/>
              <a:t>‹#›</a:t>
            </a:fld>
            <a:endParaRPr lang="en-SG"/>
          </a:p>
        </p:txBody>
      </p:sp>
    </p:spTree>
    <p:extLst>
      <p:ext uri="{BB962C8B-B14F-4D97-AF65-F5344CB8AC3E}">
        <p14:creationId xmlns:p14="http://schemas.microsoft.com/office/powerpoint/2010/main" val="820251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FA8C1-22EA-9AFB-87BF-267E672C8A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C0247F17-8477-06AA-861C-EE0BFE8645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7F69EC9-2078-76D6-281B-02A7F6A0F3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0E8534-3928-4D63-3BCF-FD0385DB176D}"/>
              </a:ext>
            </a:extLst>
          </p:cNvPr>
          <p:cNvSpPr>
            <a:spLocks noGrp="1"/>
          </p:cNvSpPr>
          <p:nvPr>
            <p:ph type="dt" sz="half" idx="10"/>
          </p:nvPr>
        </p:nvSpPr>
        <p:spPr/>
        <p:txBody>
          <a:bodyPr/>
          <a:lstStyle/>
          <a:p>
            <a:fld id="{A2406558-6961-4CDA-B4A9-D8DF30487C51}" type="datetimeFigureOut">
              <a:rPr lang="en-SG" smtClean="0"/>
              <a:t>3/9/2025</a:t>
            </a:fld>
            <a:endParaRPr lang="en-SG"/>
          </a:p>
        </p:txBody>
      </p:sp>
      <p:sp>
        <p:nvSpPr>
          <p:cNvPr id="6" name="Footer Placeholder 5">
            <a:extLst>
              <a:ext uri="{FF2B5EF4-FFF2-40B4-BE49-F238E27FC236}">
                <a16:creationId xmlns:a16="http://schemas.microsoft.com/office/drawing/2014/main" id="{F0F26C7F-E8E3-C056-28A1-3C9EF47130F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573B4DD-4E6B-C528-80BE-C6485BC2FCF1}"/>
              </a:ext>
            </a:extLst>
          </p:cNvPr>
          <p:cNvSpPr>
            <a:spLocks noGrp="1"/>
          </p:cNvSpPr>
          <p:nvPr>
            <p:ph type="sldNum" sz="quarter" idx="12"/>
          </p:nvPr>
        </p:nvSpPr>
        <p:spPr/>
        <p:txBody>
          <a:bodyPr/>
          <a:lstStyle/>
          <a:p>
            <a:fld id="{F784709D-6B41-4B1F-BE84-829DA9E37C98}" type="slidenum">
              <a:rPr lang="en-SG" smtClean="0"/>
              <a:t>‹#›</a:t>
            </a:fld>
            <a:endParaRPr lang="en-SG"/>
          </a:p>
        </p:txBody>
      </p:sp>
    </p:spTree>
    <p:extLst>
      <p:ext uri="{BB962C8B-B14F-4D97-AF65-F5344CB8AC3E}">
        <p14:creationId xmlns:p14="http://schemas.microsoft.com/office/powerpoint/2010/main" val="1352436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CEB8D-A652-992E-1BC2-2D024F49D0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CCB2D9F8-2FB4-37A6-8CAF-799D69C8DE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D462A379-6F6E-F332-CD55-BFC756B076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01D02F-23D3-A04C-880F-D84F4A679128}"/>
              </a:ext>
            </a:extLst>
          </p:cNvPr>
          <p:cNvSpPr>
            <a:spLocks noGrp="1"/>
          </p:cNvSpPr>
          <p:nvPr>
            <p:ph type="dt" sz="half" idx="10"/>
          </p:nvPr>
        </p:nvSpPr>
        <p:spPr/>
        <p:txBody>
          <a:bodyPr/>
          <a:lstStyle/>
          <a:p>
            <a:fld id="{A2406558-6961-4CDA-B4A9-D8DF30487C51}" type="datetimeFigureOut">
              <a:rPr lang="en-SG" smtClean="0"/>
              <a:t>3/9/2025</a:t>
            </a:fld>
            <a:endParaRPr lang="en-SG"/>
          </a:p>
        </p:txBody>
      </p:sp>
      <p:sp>
        <p:nvSpPr>
          <p:cNvPr id="6" name="Footer Placeholder 5">
            <a:extLst>
              <a:ext uri="{FF2B5EF4-FFF2-40B4-BE49-F238E27FC236}">
                <a16:creationId xmlns:a16="http://schemas.microsoft.com/office/drawing/2014/main" id="{2737FA8B-B488-441E-32CB-8C9C8AC910C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CF0FB88-9C98-F16D-FE5B-914D8DBB8165}"/>
              </a:ext>
            </a:extLst>
          </p:cNvPr>
          <p:cNvSpPr>
            <a:spLocks noGrp="1"/>
          </p:cNvSpPr>
          <p:nvPr>
            <p:ph type="sldNum" sz="quarter" idx="12"/>
          </p:nvPr>
        </p:nvSpPr>
        <p:spPr/>
        <p:txBody>
          <a:bodyPr/>
          <a:lstStyle/>
          <a:p>
            <a:fld id="{F784709D-6B41-4B1F-BE84-829DA9E37C98}" type="slidenum">
              <a:rPr lang="en-SG" smtClean="0"/>
              <a:t>‹#›</a:t>
            </a:fld>
            <a:endParaRPr lang="en-SG"/>
          </a:p>
        </p:txBody>
      </p:sp>
    </p:spTree>
    <p:extLst>
      <p:ext uri="{BB962C8B-B14F-4D97-AF65-F5344CB8AC3E}">
        <p14:creationId xmlns:p14="http://schemas.microsoft.com/office/powerpoint/2010/main" val="3468795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FDFE2-EB5B-197F-6522-2080176F2CFA}"/>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A77E1AF-7170-0A85-C45A-1A0D1A9345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9B8C28B7-F9FF-9D8B-68AF-CE7423C3A5DE}"/>
              </a:ext>
            </a:extLst>
          </p:cNvPr>
          <p:cNvSpPr>
            <a:spLocks noGrp="1"/>
          </p:cNvSpPr>
          <p:nvPr>
            <p:ph type="dt" sz="half" idx="10"/>
          </p:nvPr>
        </p:nvSpPr>
        <p:spPr/>
        <p:txBody>
          <a:bodyPr/>
          <a:lstStyle/>
          <a:p>
            <a:fld id="{A2406558-6961-4CDA-B4A9-D8DF30487C51}" type="datetimeFigureOut">
              <a:rPr lang="en-SG" smtClean="0"/>
              <a:t>3/9/2025</a:t>
            </a:fld>
            <a:endParaRPr lang="en-SG"/>
          </a:p>
        </p:txBody>
      </p:sp>
      <p:sp>
        <p:nvSpPr>
          <p:cNvPr id="5" name="Footer Placeholder 4">
            <a:extLst>
              <a:ext uri="{FF2B5EF4-FFF2-40B4-BE49-F238E27FC236}">
                <a16:creationId xmlns:a16="http://schemas.microsoft.com/office/drawing/2014/main" id="{B6272972-5714-6F52-C338-2113F8AA0AC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AD1400F-61ED-8BCC-6ED1-200EF0C55F2B}"/>
              </a:ext>
            </a:extLst>
          </p:cNvPr>
          <p:cNvSpPr>
            <a:spLocks noGrp="1"/>
          </p:cNvSpPr>
          <p:nvPr>
            <p:ph type="sldNum" sz="quarter" idx="12"/>
          </p:nvPr>
        </p:nvSpPr>
        <p:spPr/>
        <p:txBody>
          <a:bodyPr/>
          <a:lstStyle/>
          <a:p>
            <a:fld id="{F784709D-6B41-4B1F-BE84-829DA9E37C98}" type="slidenum">
              <a:rPr lang="en-SG" smtClean="0"/>
              <a:t>‹#›</a:t>
            </a:fld>
            <a:endParaRPr lang="en-SG"/>
          </a:p>
        </p:txBody>
      </p:sp>
    </p:spTree>
    <p:extLst>
      <p:ext uri="{BB962C8B-B14F-4D97-AF65-F5344CB8AC3E}">
        <p14:creationId xmlns:p14="http://schemas.microsoft.com/office/powerpoint/2010/main" val="2962416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A0B0F2-575F-967F-BC29-9B2FE37F8C0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94D870B-D004-D8BA-C439-FC89AF7F1B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D52BE38-2BF9-CC04-772A-20E98C99EB8A}"/>
              </a:ext>
            </a:extLst>
          </p:cNvPr>
          <p:cNvSpPr>
            <a:spLocks noGrp="1"/>
          </p:cNvSpPr>
          <p:nvPr>
            <p:ph type="dt" sz="half" idx="10"/>
          </p:nvPr>
        </p:nvSpPr>
        <p:spPr/>
        <p:txBody>
          <a:bodyPr/>
          <a:lstStyle/>
          <a:p>
            <a:fld id="{A2406558-6961-4CDA-B4A9-D8DF30487C51}" type="datetimeFigureOut">
              <a:rPr lang="en-SG" smtClean="0"/>
              <a:t>3/9/2025</a:t>
            </a:fld>
            <a:endParaRPr lang="en-SG"/>
          </a:p>
        </p:txBody>
      </p:sp>
      <p:sp>
        <p:nvSpPr>
          <p:cNvPr id="5" name="Footer Placeholder 4">
            <a:extLst>
              <a:ext uri="{FF2B5EF4-FFF2-40B4-BE49-F238E27FC236}">
                <a16:creationId xmlns:a16="http://schemas.microsoft.com/office/drawing/2014/main" id="{E093178B-6CDF-5B5F-E653-D8AFE028333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C1A6741-C315-A03D-0E6A-E3EB5B7A9D31}"/>
              </a:ext>
            </a:extLst>
          </p:cNvPr>
          <p:cNvSpPr>
            <a:spLocks noGrp="1"/>
          </p:cNvSpPr>
          <p:nvPr>
            <p:ph type="sldNum" sz="quarter" idx="12"/>
          </p:nvPr>
        </p:nvSpPr>
        <p:spPr/>
        <p:txBody>
          <a:bodyPr/>
          <a:lstStyle/>
          <a:p>
            <a:fld id="{F784709D-6B41-4B1F-BE84-829DA9E37C98}" type="slidenum">
              <a:rPr lang="en-SG" smtClean="0"/>
              <a:t>‹#›</a:t>
            </a:fld>
            <a:endParaRPr lang="en-SG"/>
          </a:p>
        </p:txBody>
      </p:sp>
    </p:spTree>
    <p:extLst>
      <p:ext uri="{BB962C8B-B14F-4D97-AF65-F5344CB8AC3E}">
        <p14:creationId xmlns:p14="http://schemas.microsoft.com/office/powerpoint/2010/main" val="32341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3CD7DA-A1BA-8F9E-9A04-9BD242A851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AFBE8DE-2F45-3B50-7209-A200E51321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14390A2-4DAF-6CAB-51A0-F57D849DAF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406558-6961-4CDA-B4A9-D8DF30487C51}" type="datetimeFigureOut">
              <a:rPr lang="en-SG" smtClean="0"/>
              <a:t>3/9/2025</a:t>
            </a:fld>
            <a:endParaRPr lang="en-SG"/>
          </a:p>
        </p:txBody>
      </p:sp>
      <p:sp>
        <p:nvSpPr>
          <p:cNvPr id="5" name="Footer Placeholder 4">
            <a:extLst>
              <a:ext uri="{FF2B5EF4-FFF2-40B4-BE49-F238E27FC236}">
                <a16:creationId xmlns:a16="http://schemas.microsoft.com/office/drawing/2014/main" id="{EA40F937-472D-B912-B2E1-7ADFFF031A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3B315188-A4A9-BE58-C712-D84903FAB3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84709D-6B41-4B1F-BE84-829DA9E37C98}" type="slidenum">
              <a:rPr lang="en-SG" smtClean="0"/>
              <a:t>‹#›</a:t>
            </a:fld>
            <a:endParaRPr lang="en-SG"/>
          </a:p>
        </p:txBody>
      </p:sp>
    </p:spTree>
    <p:extLst>
      <p:ext uri="{BB962C8B-B14F-4D97-AF65-F5344CB8AC3E}">
        <p14:creationId xmlns:p14="http://schemas.microsoft.com/office/powerpoint/2010/main" val="3737343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30scedigitalisationprojects.github.io/sftTracke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docs.google.com/spreadsheets/d/1nqXkkm-Q2vF9T-KOp1DF3cE3RJp7-jt3_ELcnrzQIBY/edit?gid=0#gid=0"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B2943-A7F8-7F28-5CAE-B78AD456800F}"/>
              </a:ext>
            </a:extLst>
          </p:cNvPr>
          <p:cNvSpPr>
            <a:spLocks noGrp="1"/>
          </p:cNvSpPr>
          <p:nvPr>
            <p:ph type="ctrTitle"/>
          </p:nvPr>
        </p:nvSpPr>
        <p:spPr/>
        <p:txBody>
          <a:bodyPr/>
          <a:lstStyle/>
          <a:p>
            <a:r>
              <a:rPr lang="en-SG" dirty="0"/>
              <a:t>User Guide for SFT Tracker</a:t>
            </a:r>
          </a:p>
        </p:txBody>
      </p:sp>
      <p:sp>
        <p:nvSpPr>
          <p:cNvPr id="3" name="Subtitle 2">
            <a:extLst>
              <a:ext uri="{FF2B5EF4-FFF2-40B4-BE49-F238E27FC236}">
                <a16:creationId xmlns:a16="http://schemas.microsoft.com/office/drawing/2014/main" id="{BA8CA33F-EEFD-C555-8500-6E868F810006}"/>
              </a:ext>
            </a:extLst>
          </p:cNvPr>
          <p:cNvSpPr>
            <a:spLocks noGrp="1"/>
          </p:cNvSpPr>
          <p:nvPr>
            <p:ph type="subTitle" idx="1"/>
          </p:nvPr>
        </p:nvSpPr>
        <p:spPr/>
        <p:txBody>
          <a:bodyPr/>
          <a:lstStyle/>
          <a:p>
            <a:r>
              <a:rPr lang="en-SG" dirty="0"/>
              <a:t>For all users</a:t>
            </a:r>
          </a:p>
        </p:txBody>
      </p:sp>
    </p:spTree>
    <p:extLst>
      <p:ext uri="{BB962C8B-B14F-4D97-AF65-F5344CB8AC3E}">
        <p14:creationId xmlns:p14="http://schemas.microsoft.com/office/powerpoint/2010/main" val="280921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67678-BE5C-D9E0-ACDC-F5778AB384AB}"/>
              </a:ext>
            </a:extLst>
          </p:cNvPr>
          <p:cNvSpPr>
            <a:spLocks noGrp="1"/>
          </p:cNvSpPr>
          <p:nvPr>
            <p:ph type="title"/>
          </p:nvPr>
        </p:nvSpPr>
        <p:spPr/>
        <p:txBody>
          <a:bodyPr/>
          <a:lstStyle/>
          <a:p>
            <a:r>
              <a:rPr lang="en-SG" dirty="0"/>
              <a:t>Introduction</a:t>
            </a:r>
          </a:p>
        </p:txBody>
      </p:sp>
      <p:sp>
        <p:nvSpPr>
          <p:cNvPr id="3" name="Content Placeholder 2">
            <a:extLst>
              <a:ext uri="{FF2B5EF4-FFF2-40B4-BE49-F238E27FC236}">
                <a16:creationId xmlns:a16="http://schemas.microsoft.com/office/drawing/2014/main" id="{8CE6CE19-9AC5-D5F1-DFA0-C18DAB4AE884}"/>
              </a:ext>
            </a:extLst>
          </p:cNvPr>
          <p:cNvSpPr>
            <a:spLocks noGrp="1"/>
          </p:cNvSpPr>
          <p:nvPr>
            <p:ph idx="1"/>
          </p:nvPr>
        </p:nvSpPr>
        <p:spPr>
          <a:xfrm>
            <a:off x="838200" y="1825625"/>
            <a:ext cx="10515600" cy="1743075"/>
          </a:xfrm>
        </p:spPr>
        <p:txBody>
          <a:bodyPr/>
          <a:lstStyle/>
          <a:p>
            <a:pPr marL="0" indent="0" algn="just">
              <a:buNone/>
            </a:pPr>
            <a:r>
              <a:rPr lang="en-SG" dirty="0"/>
              <a:t>SFT Tracker is a web application for 30SCE soldiers to conveniently log their participation in Self-Regulated Fitness Training. This application is linked to a Google Sheet where commanders can monitor the status of the soldiers under their command.</a:t>
            </a:r>
          </a:p>
        </p:txBody>
      </p:sp>
      <p:sp>
        <p:nvSpPr>
          <p:cNvPr id="4" name="Title 1">
            <a:extLst>
              <a:ext uri="{FF2B5EF4-FFF2-40B4-BE49-F238E27FC236}">
                <a16:creationId xmlns:a16="http://schemas.microsoft.com/office/drawing/2014/main" id="{C7529F2F-E8C2-281A-835F-285809331042}"/>
              </a:ext>
            </a:extLst>
          </p:cNvPr>
          <p:cNvSpPr txBox="1">
            <a:spLocks/>
          </p:cNvSpPr>
          <p:nvPr/>
        </p:nvSpPr>
        <p:spPr>
          <a:xfrm>
            <a:off x="838200" y="35687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Quick Start</a:t>
            </a:r>
          </a:p>
        </p:txBody>
      </p:sp>
      <p:sp>
        <p:nvSpPr>
          <p:cNvPr id="5" name="Content Placeholder 2">
            <a:extLst>
              <a:ext uri="{FF2B5EF4-FFF2-40B4-BE49-F238E27FC236}">
                <a16:creationId xmlns:a16="http://schemas.microsoft.com/office/drawing/2014/main" id="{1C645954-0354-5E82-7706-43BE02B9FBCB}"/>
              </a:ext>
            </a:extLst>
          </p:cNvPr>
          <p:cNvSpPr txBox="1">
            <a:spLocks/>
          </p:cNvSpPr>
          <p:nvPr/>
        </p:nvSpPr>
        <p:spPr>
          <a:xfrm>
            <a:off x="838200" y="5029200"/>
            <a:ext cx="1051560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SG" dirty="0"/>
              <a:t>Click </a:t>
            </a:r>
            <a:r>
              <a:rPr lang="en-SG" dirty="0">
                <a:hlinkClick r:id="rId2"/>
              </a:rPr>
              <a:t>here</a:t>
            </a:r>
            <a:r>
              <a:rPr lang="en-SG" dirty="0"/>
              <a:t> to access the application on your phone’s browser.</a:t>
            </a:r>
          </a:p>
          <a:p>
            <a:pPr algn="just"/>
            <a:r>
              <a:rPr lang="en-SG" dirty="0"/>
              <a:t>You need internet access to be able to use the application.</a:t>
            </a:r>
          </a:p>
        </p:txBody>
      </p:sp>
    </p:spTree>
    <p:extLst>
      <p:ext uri="{BB962C8B-B14F-4D97-AF65-F5344CB8AC3E}">
        <p14:creationId xmlns:p14="http://schemas.microsoft.com/office/powerpoint/2010/main" val="1978364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8C87F-97A1-42A2-0357-E2DC67DAB55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7F5BDE5-6C12-95E2-7378-F8416C4FBA04}"/>
              </a:ext>
            </a:extLst>
          </p:cNvPr>
          <p:cNvPicPr>
            <a:picLocks noChangeAspect="1"/>
          </p:cNvPicPr>
          <p:nvPr/>
        </p:nvPicPr>
        <p:blipFill>
          <a:blip r:embed="rId2"/>
          <a:srcRect l="4151" r="4549"/>
          <a:stretch>
            <a:fillRect/>
          </a:stretch>
        </p:blipFill>
        <p:spPr>
          <a:xfrm>
            <a:off x="5000624" y="2133601"/>
            <a:ext cx="2181225" cy="3848248"/>
          </a:xfrm>
          <a:prstGeom prst="rect">
            <a:avLst/>
          </a:prstGeom>
        </p:spPr>
      </p:pic>
      <p:sp>
        <p:nvSpPr>
          <p:cNvPr id="2" name="Title 1">
            <a:extLst>
              <a:ext uri="{FF2B5EF4-FFF2-40B4-BE49-F238E27FC236}">
                <a16:creationId xmlns:a16="http://schemas.microsoft.com/office/drawing/2014/main" id="{D20A31D3-7EBB-8475-3A6B-5ACF87F525A5}"/>
              </a:ext>
            </a:extLst>
          </p:cNvPr>
          <p:cNvSpPr>
            <a:spLocks noGrp="1"/>
          </p:cNvSpPr>
          <p:nvPr>
            <p:ph type="title"/>
          </p:nvPr>
        </p:nvSpPr>
        <p:spPr/>
        <p:txBody>
          <a:bodyPr/>
          <a:lstStyle/>
          <a:p>
            <a:r>
              <a:rPr lang="en-SG" dirty="0"/>
              <a:t>Logging your SFT using the application</a:t>
            </a:r>
          </a:p>
        </p:txBody>
      </p:sp>
      <p:pic>
        <p:nvPicPr>
          <p:cNvPr id="5" name="Content Placeholder 4" descr="Smart Phone with solid fill">
            <a:extLst>
              <a:ext uri="{FF2B5EF4-FFF2-40B4-BE49-F238E27FC236}">
                <a16:creationId xmlns:a16="http://schemas.microsoft.com/office/drawing/2014/main" id="{F8A00765-5E07-AB7E-E557-1F14A89DF7BD}"/>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3214576" y="1180213"/>
            <a:ext cx="5762847" cy="5762847"/>
          </a:xfrm>
        </p:spPr>
      </p:pic>
      <p:sp>
        <p:nvSpPr>
          <p:cNvPr id="8" name="Rectangle 7">
            <a:extLst>
              <a:ext uri="{FF2B5EF4-FFF2-40B4-BE49-F238E27FC236}">
                <a16:creationId xmlns:a16="http://schemas.microsoft.com/office/drawing/2014/main" id="{DD16FEFA-5227-BFA4-04EE-0B960B2538C5}"/>
              </a:ext>
            </a:extLst>
          </p:cNvPr>
          <p:cNvSpPr/>
          <p:nvPr/>
        </p:nvSpPr>
        <p:spPr>
          <a:xfrm>
            <a:off x="5145880" y="2847975"/>
            <a:ext cx="1926433" cy="1762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2F0ECA77-97AE-CCE4-07FF-48965B3F5520}"/>
              </a:ext>
            </a:extLst>
          </p:cNvPr>
          <p:cNvSpPr txBox="1"/>
          <p:nvPr/>
        </p:nvSpPr>
        <p:spPr>
          <a:xfrm>
            <a:off x="88897" y="1778865"/>
            <a:ext cx="4432742" cy="369332"/>
          </a:xfrm>
          <a:prstGeom prst="rect">
            <a:avLst/>
          </a:prstGeom>
          <a:noFill/>
          <a:ln w="19050">
            <a:solidFill>
              <a:srgbClr val="FF0000"/>
            </a:solidFill>
          </a:ln>
        </p:spPr>
        <p:txBody>
          <a:bodyPr wrap="square" rtlCol="0">
            <a:spAutoFit/>
          </a:bodyPr>
          <a:lstStyle/>
          <a:p>
            <a:pPr algn="just"/>
            <a:r>
              <a:rPr lang="en-SG" dirty="0"/>
              <a:t>1. Enter your rank and name here</a:t>
            </a:r>
          </a:p>
        </p:txBody>
      </p:sp>
      <p:cxnSp>
        <p:nvCxnSpPr>
          <p:cNvPr id="11" name="Straight Arrow Connector 10">
            <a:extLst>
              <a:ext uri="{FF2B5EF4-FFF2-40B4-BE49-F238E27FC236}">
                <a16:creationId xmlns:a16="http://schemas.microsoft.com/office/drawing/2014/main" id="{27586F71-A22E-5E4E-DD23-D6836678F76C}"/>
              </a:ext>
            </a:extLst>
          </p:cNvPr>
          <p:cNvCxnSpPr>
            <a:cxnSpLocks/>
            <a:stCxn id="9" idx="3"/>
            <a:endCxn id="8" idx="1"/>
          </p:cNvCxnSpPr>
          <p:nvPr/>
        </p:nvCxnSpPr>
        <p:spPr>
          <a:xfrm>
            <a:off x="4521639" y="1963531"/>
            <a:ext cx="624241" cy="97255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DE84B93-5577-961B-A2E3-B462513AD368}"/>
              </a:ext>
            </a:extLst>
          </p:cNvPr>
          <p:cNvSpPr txBox="1"/>
          <p:nvPr/>
        </p:nvSpPr>
        <p:spPr>
          <a:xfrm>
            <a:off x="7647318" y="1783944"/>
            <a:ext cx="4455784" cy="1200329"/>
          </a:xfrm>
          <a:prstGeom prst="rect">
            <a:avLst/>
          </a:prstGeom>
          <a:noFill/>
          <a:ln w="19050">
            <a:solidFill>
              <a:srgbClr val="FF0000"/>
            </a:solidFill>
          </a:ln>
        </p:spPr>
        <p:txBody>
          <a:bodyPr wrap="square" rtlCol="0">
            <a:spAutoFit/>
          </a:bodyPr>
          <a:lstStyle/>
          <a:p>
            <a:pPr algn="just"/>
            <a:r>
              <a:rPr lang="en-SG" dirty="0"/>
              <a:t>2. Click here to add in another participant. </a:t>
            </a:r>
          </a:p>
          <a:p>
            <a:pPr algn="just"/>
            <a:r>
              <a:rPr lang="en-SG" b="1" dirty="0"/>
              <a:t>SFT must be done in buddy level.</a:t>
            </a:r>
            <a:r>
              <a:rPr lang="en-SG" dirty="0"/>
              <a:t> You will not be able to start your activity if you don’t have a buddy.</a:t>
            </a:r>
            <a:endParaRPr lang="en-SG" b="1" dirty="0"/>
          </a:p>
        </p:txBody>
      </p:sp>
      <p:sp>
        <p:nvSpPr>
          <p:cNvPr id="13" name="Rectangle 12">
            <a:extLst>
              <a:ext uri="{FF2B5EF4-FFF2-40B4-BE49-F238E27FC236}">
                <a16:creationId xmlns:a16="http://schemas.microsoft.com/office/drawing/2014/main" id="{305A9F13-9502-1C79-C044-69220E5F62C6}"/>
              </a:ext>
            </a:extLst>
          </p:cNvPr>
          <p:cNvSpPr/>
          <p:nvPr/>
        </p:nvSpPr>
        <p:spPr>
          <a:xfrm>
            <a:off x="5145881" y="3074193"/>
            <a:ext cx="1926432" cy="1762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0" name="Straight Arrow Connector 19">
            <a:extLst>
              <a:ext uri="{FF2B5EF4-FFF2-40B4-BE49-F238E27FC236}">
                <a16:creationId xmlns:a16="http://schemas.microsoft.com/office/drawing/2014/main" id="{54A1BE3C-30D7-BEE4-23AB-2692E7D9F6DA}"/>
              </a:ext>
            </a:extLst>
          </p:cNvPr>
          <p:cNvCxnSpPr>
            <a:cxnSpLocks/>
            <a:stCxn id="12" idx="1"/>
            <a:endCxn id="13" idx="3"/>
          </p:cNvCxnSpPr>
          <p:nvPr/>
        </p:nvCxnSpPr>
        <p:spPr>
          <a:xfrm flipH="1">
            <a:off x="7072313" y="2384109"/>
            <a:ext cx="575005" cy="77819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6ABE9C80-E5D2-B059-2A29-EA289F35EAE9}"/>
              </a:ext>
            </a:extLst>
          </p:cNvPr>
          <p:cNvSpPr txBox="1"/>
          <p:nvPr/>
        </p:nvSpPr>
        <p:spPr>
          <a:xfrm>
            <a:off x="88897" y="2773204"/>
            <a:ext cx="4432742" cy="646331"/>
          </a:xfrm>
          <a:prstGeom prst="rect">
            <a:avLst/>
          </a:prstGeom>
          <a:noFill/>
          <a:ln w="19050">
            <a:solidFill>
              <a:srgbClr val="FF0000"/>
            </a:solidFill>
          </a:ln>
        </p:spPr>
        <p:txBody>
          <a:bodyPr wrap="square" rtlCol="0">
            <a:spAutoFit/>
          </a:bodyPr>
          <a:lstStyle/>
          <a:p>
            <a:pPr algn="just"/>
            <a:r>
              <a:rPr lang="en-SG" dirty="0"/>
              <a:t>3. Use the drop down menu to select your sub-unit.</a:t>
            </a:r>
          </a:p>
        </p:txBody>
      </p:sp>
      <p:cxnSp>
        <p:nvCxnSpPr>
          <p:cNvPr id="29" name="Straight Arrow Connector 28">
            <a:extLst>
              <a:ext uri="{FF2B5EF4-FFF2-40B4-BE49-F238E27FC236}">
                <a16:creationId xmlns:a16="http://schemas.microsoft.com/office/drawing/2014/main" id="{60AD9946-C9A7-A34B-7A7A-964A6C597E1E}"/>
              </a:ext>
            </a:extLst>
          </p:cNvPr>
          <p:cNvCxnSpPr>
            <a:cxnSpLocks/>
            <a:stCxn id="28" idx="3"/>
            <a:endCxn id="30" idx="1"/>
          </p:cNvCxnSpPr>
          <p:nvPr/>
        </p:nvCxnSpPr>
        <p:spPr>
          <a:xfrm>
            <a:off x="4521639" y="3096370"/>
            <a:ext cx="624241" cy="75649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FAA0E608-A363-4562-4794-B8928AD86932}"/>
              </a:ext>
            </a:extLst>
          </p:cNvPr>
          <p:cNvSpPr/>
          <p:nvPr/>
        </p:nvSpPr>
        <p:spPr>
          <a:xfrm>
            <a:off x="5145880" y="3764756"/>
            <a:ext cx="1926432" cy="1762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7" name="TextBox 36">
            <a:extLst>
              <a:ext uri="{FF2B5EF4-FFF2-40B4-BE49-F238E27FC236}">
                <a16:creationId xmlns:a16="http://schemas.microsoft.com/office/drawing/2014/main" id="{5B828DE1-7FBB-3161-94FE-36587309BEBE}"/>
              </a:ext>
            </a:extLst>
          </p:cNvPr>
          <p:cNvSpPr txBox="1"/>
          <p:nvPr/>
        </p:nvSpPr>
        <p:spPr>
          <a:xfrm>
            <a:off x="7647318" y="3209548"/>
            <a:ext cx="4455784" cy="1477328"/>
          </a:xfrm>
          <a:prstGeom prst="rect">
            <a:avLst/>
          </a:prstGeom>
          <a:noFill/>
          <a:ln w="19050">
            <a:solidFill>
              <a:srgbClr val="FF0000"/>
            </a:solidFill>
          </a:ln>
        </p:spPr>
        <p:txBody>
          <a:bodyPr wrap="square" rtlCol="0">
            <a:spAutoFit/>
          </a:bodyPr>
          <a:lstStyle/>
          <a:p>
            <a:pPr algn="just"/>
            <a:r>
              <a:rPr lang="en-SG" dirty="0"/>
              <a:t>4. For ‘A’ Coy, ‘B’ Coy, ‘C’ Coy and ‘ME’ Coy soldiers, key in your platoon and section in the following format “&lt;platoon&gt;/ section&gt;”.</a:t>
            </a:r>
          </a:p>
          <a:p>
            <a:pPr algn="just"/>
            <a:r>
              <a:rPr lang="en-SG" dirty="0"/>
              <a:t>For “HQ” Coy, enter your Branch/ Department</a:t>
            </a:r>
          </a:p>
        </p:txBody>
      </p:sp>
      <p:cxnSp>
        <p:nvCxnSpPr>
          <p:cNvPr id="38" name="Straight Arrow Connector 37">
            <a:extLst>
              <a:ext uri="{FF2B5EF4-FFF2-40B4-BE49-F238E27FC236}">
                <a16:creationId xmlns:a16="http://schemas.microsoft.com/office/drawing/2014/main" id="{FE1A333A-16AC-BB70-D0B7-B7B3CC739E49}"/>
              </a:ext>
            </a:extLst>
          </p:cNvPr>
          <p:cNvCxnSpPr>
            <a:cxnSpLocks/>
            <a:stCxn id="37" idx="1"/>
            <a:endCxn id="41" idx="3"/>
          </p:cNvCxnSpPr>
          <p:nvPr/>
        </p:nvCxnSpPr>
        <p:spPr>
          <a:xfrm flipH="1">
            <a:off x="7072312" y="3948212"/>
            <a:ext cx="575006" cy="46166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5032FDFA-8BBB-5C2C-F2F6-8862738E294E}"/>
              </a:ext>
            </a:extLst>
          </p:cNvPr>
          <p:cNvSpPr/>
          <p:nvPr/>
        </p:nvSpPr>
        <p:spPr>
          <a:xfrm>
            <a:off x="5145880" y="4321771"/>
            <a:ext cx="1926432" cy="1762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2" name="TextBox 51">
            <a:extLst>
              <a:ext uri="{FF2B5EF4-FFF2-40B4-BE49-F238E27FC236}">
                <a16:creationId xmlns:a16="http://schemas.microsoft.com/office/drawing/2014/main" id="{AE6FC5FB-9EB4-D390-2AAF-017E601E8964}"/>
              </a:ext>
            </a:extLst>
          </p:cNvPr>
          <p:cNvSpPr txBox="1"/>
          <p:nvPr/>
        </p:nvSpPr>
        <p:spPr>
          <a:xfrm>
            <a:off x="88897" y="4046046"/>
            <a:ext cx="4446258" cy="369332"/>
          </a:xfrm>
          <a:prstGeom prst="rect">
            <a:avLst/>
          </a:prstGeom>
          <a:noFill/>
          <a:ln w="19050">
            <a:solidFill>
              <a:srgbClr val="FF0000"/>
            </a:solidFill>
          </a:ln>
        </p:spPr>
        <p:txBody>
          <a:bodyPr wrap="square" rtlCol="0">
            <a:spAutoFit/>
          </a:bodyPr>
          <a:lstStyle/>
          <a:p>
            <a:pPr algn="just"/>
            <a:r>
              <a:rPr lang="en-SG" dirty="0"/>
              <a:t>5. Enter the location of your activity here.</a:t>
            </a:r>
          </a:p>
        </p:txBody>
      </p:sp>
      <p:cxnSp>
        <p:nvCxnSpPr>
          <p:cNvPr id="53" name="Straight Arrow Connector 52">
            <a:extLst>
              <a:ext uri="{FF2B5EF4-FFF2-40B4-BE49-F238E27FC236}">
                <a16:creationId xmlns:a16="http://schemas.microsoft.com/office/drawing/2014/main" id="{F7148540-6600-B705-AD91-D91AC1F64C27}"/>
              </a:ext>
            </a:extLst>
          </p:cNvPr>
          <p:cNvCxnSpPr>
            <a:cxnSpLocks/>
            <a:stCxn id="52" idx="3"/>
            <a:endCxn id="54" idx="1"/>
          </p:cNvCxnSpPr>
          <p:nvPr/>
        </p:nvCxnSpPr>
        <p:spPr>
          <a:xfrm>
            <a:off x="4535155" y="4230712"/>
            <a:ext cx="610725" cy="73304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a:extLst>
              <a:ext uri="{FF2B5EF4-FFF2-40B4-BE49-F238E27FC236}">
                <a16:creationId xmlns:a16="http://schemas.microsoft.com/office/drawing/2014/main" id="{A757BD7B-EC69-CC0C-FFE4-2FBE478AF8A7}"/>
              </a:ext>
            </a:extLst>
          </p:cNvPr>
          <p:cNvSpPr/>
          <p:nvPr/>
        </p:nvSpPr>
        <p:spPr>
          <a:xfrm>
            <a:off x="5145880" y="4875648"/>
            <a:ext cx="1926432" cy="1762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6" name="TextBox 55">
            <a:extLst>
              <a:ext uri="{FF2B5EF4-FFF2-40B4-BE49-F238E27FC236}">
                <a16:creationId xmlns:a16="http://schemas.microsoft.com/office/drawing/2014/main" id="{D1495CD8-CA04-8F50-D9B8-1B5B16C310F2}"/>
              </a:ext>
            </a:extLst>
          </p:cNvPr>
          <p:cNvSpPr txBox="1"/>
          <p:nvPr/>
        </p:nvSpPr>
        <p:spPr>
          <a:xfrm>
            <a:off x="7647318" y="4912151"/>
            <a:ext cx="4455784" cy="369332"/>
          </a:xfrm>
          <a:prstGeom prst="rect">
            <a:avLst/>
          </a:prstGeom>
          <a:noFill/>
          <a:ln w="19050">
            <a:solidFill>
              <a:srgbClr val="FF0000"/>
            </a:solidFill>
          </a:ln>
        </p:spPr>
        <p:txBody>
          <a:bodyPr wrap="square" rtlCol="0">
            <a:spAutoFit/>
          </a:bodyPr>
          <a:lstStyle/>
          <a:p>
            <a:pPr algn="just"/>
            <a:r>
              <a:rPr lang="en-SG" dirty="0"/>
              <a:t>6. Enter the name of your activity here.</a:t>
            </a:r>
          </a:p>
        </p:txBody>
      </p:sp>
      <p:sp>
        <p:nvSpPr>
          <p:cNvPr id="63" name="Rectangle 62">
            <a:extLst>
              <a:ext uri="{FF2B5EF4-FFF2-40B4-BE49-F238E27FC236}">
                <a16:creationId xmlns:a16="http://schemas.microsoft.com/office/drawing/2014/main" id="{A0DE4580-8BC6-57C8-8DC6-0CA35EC0773B}"/>
              </a:ext>
            </a:extLst>
          </p:cNvPr>
          <p:cNvSpPr/>
          <p:nvPr/>
        </p:nvSpPr>
        <p:spPr>
          <a:xfrm>
            <a:off x="5145880" y="5412149"/>
            <a:ext cx="1926432" cy="1762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64" name="Straight Arrow Connector 63">
            <a:extLst>
              <a:ext uri="{FF2B5EF4-FFF2-40B4-BE49-F238E27FC236}">
                <a16:creationId xmlns:a16="http://schemas.microsoft.com/office/drawing/2014/main" id="{1946B169-8588-5860-711C-1FB864109703}"/>
              </a:ext>
            </a:extLst>
          </p:cNvPr>
          <p:cNvCxnSpPr>
            <a:cxnSpLocks/>
            <a:stCxn id="56" idx="1"/>
            <a:endCxn id="63" idx="3"/>
          </p:cNvCxnSpPr>
          <p:nvPr/>
        </p:nvCxnSpPr>
        <p:spPr>
          <a:xfrm flipH="1">
            <a:off x="7072312" y="5096817"/>
            <a:ext cx="575006" cy="40343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8793DEC1-0BA4-BD2E-9871-B2614DB99212}"/>
              </a:ext>
            </a:extLst>
          </p:cNvPr>
          <p:cNvSpPr txBox="1"/>
          <p:nvPr/>
        </p:nvSpPr>
        <p:spPr>
          <a:xfrm>
            <a:off x="88897" y="4912151"/>
            <a:ext cx="4446258" cy="369332"/>
          </a:xfrm>
          <a:prstGeom prst="rect">
            <a:avLst/>
          </a:prstGeom>
          <a:noFill/>
          <a:ln w="19050">
            <a:solidFill>
              <a:srgbClr val="FF0000"/>
            </a:solidFill>
          </a:ln>
        </p:spPr>
        <p:txBody>
          <a:bodyPr wrap="square" rtlCol="0">
            <a:spAutoFit/>
          </a:bodyPr>
          <a:lstStyle/>
          <a:p>
            <a:pPr algn="just"/>
            <a:r>
              <a:rPr lang="en-SG" dirty="0"/>
              <a:t>7. Click here to start your activity.</a:t>
            </a:r>
          </a:p>
        </p:txBody>
      </p:sp>
      <p:cxnSp>
        <p:nvCxnSpPr>
          <p:cNvPr id="68" name="Straight Arrow Connector 67">
            <a:extLst>
              <a:ext uri="{FF2B5EF4-FFF2-40B4-BE49-F238E27FC236}">
                <a16:creationId xmlns:a16="http://schemas.microsoft.com/office/drawing/2014/main" id="{F1205D21-D510-0094-256F-B4AF617BC01B}"/>
              </a:ext>
            </a:extLst>
          </p:cNvPr>
          <p:cNvCxnSpPr>
            <a:cxnSpLocks/>
            <a:stCxn id="67" idx="3"/>
            <a:endCxn id="71" idx="1"/>
          </p:cNvCxnSpPr>
          <p:nvPr/>
        </p:nvCxnSpPr>
        <p:spPr>
          <a:xfrm>
            <a:off x="4535155" y="5096817"/>
            <a:ext cx="610725" cy="73244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CB03F1D3-4D2A-FEB8-8788-96265D065172}"/>
              </a:ext>
            </a:extLst>
          </p:cNvPr>
          <p:cNvSpPr/>
          <p:nvPr/>
        </p:nvSpPr>
        <p:spPr>
          <a:xfrm>
            <a:off x="5145880" y="5741154"/>
            <a:ext cx="1926432" cy="1762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925738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9B64B-EAFB-7136-9AD4-1171A535770B}"/>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FFCCB9EB-0AE0-FD10-5D88-AFC2AC50F6AB}"/>
              </a:ext>
            </a:extLst>
          </p:cNvPr>
          <p:cNvPicPr>
            <a:picLocks noChangeAspect="1"/>
          </p:cNvPicPr>
          <p:nvPr/>
        </p:nvPicPr>
        <p:blipFill>
          <a:blip r:embed="rId2"/>
          <a:stretch>
            <a:fillRect/>
          </a:stretch>
        </p:blipFill>
        <p:spPr>
          <a:xfrm>
            <a:off x="4886239" y="2139888"/>
            <a:ext cx="2423510" cy="3843496"/>
          </a:xfrm>
          <a:prstGeom prst="rect">
            <a:avLst/>
          </a:prstGeom>
        </p:spPr>
      </p:pic>
      <p:pic>
        <p:nvPicPr>
          <p:cNvPr id="17" name="Picture 16">
            <a:extLst>
              <a:ext uri="{FF2B5EF4-FFF2-40B4-BE49-F238E27FC236}">
                <a16:creationId xmlns:a16="http://schemas.microsoft.com/office/drawing/2014/main" id="{607B1574-F20E-3891-6463-B80B6870CF7E}"/>
              </a:ext>
            </a:extLst>
          </p:cNvPr>
          <p:cNvPicPr>
            <a:picLocks noChangeAspect="1"/>
          </p:cNvPicPr>
          <p:nvPr/>
        </p:nvPicPr>
        <p:blipFill>
          <a:blip r:embed="rId3"/>
          <a:stretch>
            <a:fillRect/>
          </a:stretch>
        </p:blipFill>
        <p:spPr>
          <a:xfrm>
            <a:off x="4872724" y="4986253"/>
            <a:ext cx="2442476" cy="1036050"/>
          </a:xfrm>
          <a:prstGeom prst="rect">
            <a:avLst/>
          </a:prstGeom>
        </p:spPr>
      </p:pic>
      <p:pic>
        <p:nvPicPr>
          <p:cNvPr id="5" name="Content Placeholder 4" descr="Smart Phone with solid fill">
            <a:extLst>
              <a:ext uri="{FF2B5EF4-FFF2-40B4-BE49-F238E27FC236}">
                <a16:creationId xmlns:a16="http://schemas.microsoft.com/office/drawing/2014/main" id="{0985C556-8375-28CA-82A6-B1E249970BA3}"/>
              </a:ext>
            </a:extLst>
          </p:cNvPr>
          <p:cNvPicPr>
            <a:picLocks noGrp="1" noChangeAspect="1"/>
          </p:cNvPicPr>
          <p:nvPr>
            <p:ph idx="1"/>
          </p:nvPr>
        </p:nvPicPr>
        <p:blipFill>
          <a:blip r:embed="rId4">
            <a:extLst>
              <a:ext uri="{96DAC541-7B7A-43D3-8B79-37D633B846F1}">
                <asvg:svgBlip xmlns:asvg="http://schemas.microsoft.com/office/drawing/2016/SVG/main" r:embed="rId5"/>
              </a:ext>
            </a:extLst>
          </a:blip>
          <a:stretch>
            <a:fillRect/>
          </a:stretch>
        </p:blipFill>
        <p:spPr>
          <a:xfrm>
            <a:off x="3214576" y="1180213"/>
            <a:ext cx="5762847" cy="5762847"/>
          </a:xfrm>
        </p:spPr>
      </p:pic>
      <p:sp>
        <p:nvSpPr>
          <p:cNvPr id="9" name="TextBox 8">
            <a:extLst>
              <a:ext uri="{FF2B5EF4-FFF2-40B4-BE49-F238E27FC236}">
                <a16:creationId xmlns:a16="http://schemas.microsoft.com/office/drawing/2014/main" id="{58F56BF8-6D95-810F-9278-F76106CF20E4}"/>
              </a:ext>
            </a:extLst>
          </p:cNvPr>
          <p:cNvSpPr txBox="1"/>
          <p:nvPr/>
        </p:nvSpPr>
        <p:spPr>
          <a:xfrm>
            <a:off x="115928" y="3439734"/>
            <a:ext cx="4432742" cy="1477328"/>
          </a:xfrm>
          <a:prstGeom prst="rect">
            <a:avLst/>
          </a:prstGeom>
          <a:noFill/>
          <a:ln w="19050">
            <a:solidFill>
              <a:srgbClr val="FF0000"/>
            </a:solidFill>
          </a:ln>
        </p:spPr>
        <p:txBody>
          <a:bodyPr wrap="square" rtlCol="0">
            <a:spAutoFit/>
          </a:bodyPr>
          <a:lstStyle/>
          <a:p>
            <a:pPr algn="just"/>
            <a:r>
              <a:rPr lang="en-SG" dirty="0"/>
              <a:t>7. Read through the checklist </a:t>
            </a:r>
            <a:r>
              <a:rPr lang="en-SG" b="1" dirty="0"/>
              <a:t>carefully</a:t>
            </a:r>
            <a:r>
              <a:rPr lang="en-SG" dirty="0"/>
              <a:t> and select the options that apply. You will not be able to start the activity if you do not fulfil all the pre-requisites listed in the checklist.</a:t>
            </a:r>
          </a:p>
        </p:txBody>
      </p:sp>
      <p:cxnSp>
        <p:nvCxnSpPr>
          <p:cNvPr id="11" name="Straight Arrow Connector 10">
            <a:extLst>
              <a:ext uri="{FF2B5EF4-FFF2-40B4-BE49-F238E27FC236}">
                <a16:creationId xmlns:a16="http://schemas.microsoft.com/office/drawing/2014/main" id="{EAD24391-B5C6-834B-CB9E-ED8BC4F4C6A2}"/>
              </a:ext>
            </a:extLst>
          </p:cNvPr>
          <p:cNvCxnSpPr>
            <a:cxnSpLocks/>
            <a:stCxn id="9" idx="3"/>
            <a:endCxn id="18" idx="1"/>
          </p:cNvCxnSpPr>
          <p:nvPr/>
        </p:nvCxnSpPr>
        <p:spPr>
          <a:xfrm>
            <a:off x="4548670" y="4178398"/>
            <a:ext cx="513868" cy="1520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07E9018C-12DD-9097-9F6C-884FE97C8F75}"/>
              </a:ext>
            </a:extLst>
          </p:cNvPr>
          <p:cNvSpPr txBox="1"/>
          <p:nvPr/>
        </p:nvSpPr>
        <p:spPr>
          <a:xfrm>
            <a:off x="7647318" y="5486560"/>
            <a:ext cx="4455784" cy="369332"/>
          </a:xfrm>
          <a:prstGeom prst="rect">
            <a:avLst/>
          </a:prstGeom>
          <a:noFill/>
          <a:ln w="19050">
            <a:solidFill>
              <a:srgbClr val="FF0000"/>
            </a:solidFill>
          </a:ln>
        </p:spPr>
        <p:txBody>
          <a:bodyPr wrap="square" rtlCol="0">
            <a:spAutoFit/>
          </a:bodyPr>
          <a:lstStyle/>
          <a:p>
            <a:pPr algn="just"/>
            <a:r>
              <a:rPr lang="en-SG" dirty="0"/>
              <a:t>8. Click this button to start the activity.</a:t>
            </a:r>
          </a:p>
        </p:txBody>
      </p:sp>
      <p:cxnSp>
        <p:nvCxnSpPr>
          <p:cNvPr id="64" name="Straight Arrow Connector 63">
            <a:extLst>
              <a:ext uri="{FF2B5EF4-FFF2-40B4-BE49-F238E27FC236}">
                <a16:creationId xmlns:a16="http://schemas.microsoft.com/office/drawing/2014/main" id="{7B07C929-CE1A-C437-DC78-552E9FD96B10}"/>
              </a:ext>
            </a:extLst>
          </p:cNvPr>
          <p:cNvCxnSpPr>
            <a:cxnSpLocks/>
            <a:stCxn id="56" idx="1"/>
            <a:endCxn id="22" idx="3"/>
          </p:cNvCxnSpPr>
          <p:nvPr/>
        </p:nvCxnSpPr>
        <p:spPr>
          <a:xfrm flipH="1">
            <a:off x="7136985" y="5671226"/>
            <a:ext cx="510333" cy="9233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E4CE1E4C-3866-2D1B-B990-AD0B9077B8F2}"/>
              </a:ext>
            </a:extLst>
          </p:cNvPr>
          <p:cNvSpPr>
            <a:spLocks noGrp="1"/>
          </p:cNvSpPr>
          <p:nvPr>
            <p:ph type="title"/>
          </p:nvPr>
        </p:nvSpPr>
        <p:spPr>
          <a:xfrm>
            <a:off x="838200" y="365125"/>
            <a:ext cx="10515600" cy="1325563"/>
          </a:xfrm>
        </p:spPr>
        <p:txBody>
          <a:bodyPr/>
          <a:lstStyle/>
          <a:p>
            <a:r>
              <a:rPr lang="en-SG" dirty="0"/>
              <a:t>Logging your SFT using the application</a:t>
            </a:r>
          </a:p>
        </p:txBody>
      </p:sp>
      <p:sp>
        <p:nvSpPr>
          <p:cNvPr id="18" name="Rectangle 17">
            <a:extLst>
              <a:ext uri="{FF2B5EF4-FFF2-40B4-BE49-F238E27FC236}">
                <a16:creationId xmlns:a16="http://schemas.microsoft.com/office/drawing/2014/main" id="{1023542E-DAE1-E580-33FF-F63A47FFA076}"/>
              </a:ext>
            </a:extLst>
          </p:cNvPr>
          <p:cNvSpPr/>
          <p:nvPr/>
        </p:nvSpPr>
        <p:spPr>
          <a:xfrm>
            <a:off x="5062538" y="3083035"/>
            <a:ext cx="2077984" cy="24948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Rectangle 21">
            <a:extLst>
              <a:ext uri="{FF2B5EF4-FFF2-40B4-BE49-F238E27FC236}">
                <a16:creationId xmlns:a16="http://schemas.microsoft.com/office/drawing/2014/main" id="{F9EBAE7D-3E66-96D3-DFB2-1175FD990937}"/>
              </a:ext>
            </a:extLst>
          </p:cNvPr>
          <p:cNvSpPr/>
          <p:nvPr/>
        </p:nvSpPr>
        <p:spPr>
          <a:xfrm>
            <a:off x="6498430" y="5671226"/>
            <a:ext cx="638555" cy="1846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96975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AE4D8-D559-45EC-B635-A03F2ED663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400E854-2B3E-C046-D4AC-D46B615796B5}"/>
              </a:ext>
            </a:extLst>
          </p:cNvPr>
          <p:cNvPicPr>
            <a:picLocks noChangeAspect="1"/>
          </p:cNvPicPr>
          <p:nvPr/>
        </p:nvPicPr>
        <p:blipFill>
          <a:blip r:embed="rId2"/>
          <a:stretch>
            <a:fillRect/>
          </a:stretch>
        </p:blipFill>
        <p:spPr>
          <a:xfrm>
            <a:off x="4943492" y="2131236"/>
            <a:ext cx="2295508" cy="3851684"/>
          </a:xfrm>
          <a:prstGeom prst="rect">
            <a:avLst/>
          </a:prstGeom>
        </p:spPr>
      </p:pic>
      <p:pic>
        <p:nvPicPr>
          <p:cNvPr id="5" name="Content Placeholder 4" descr="Smart Phone with solid fill">
            <a:extLst>
              <a:ext uri="{FF2B5EF4-FFF2-40B4-BE49-F238E27FC236}">
                <a16:creationId xmlns:a16="http://schemas.microsoft.com/office/drawing/2014/main" id="{21068851-7E82-FFB7-F7F4-60ED118D683C}"/>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3214576" y="1180213"/>
            <a:ext cx="5762847" cy="5762847"/>
          </a:xfrm>
        </p:spPr>
      </p:pic>
      <p:sp>
        <p:nvSpPr>
          <p:cNvPr id="56" name="TextBox 55">
            <a:extLst>
              <a:ext uri="{FF2B5EF4-FFF2-40B4-BE49-F238E27FC236}">
                <a16:creationId xmlns:a16="http://schemas.microsoft.com/office/drawing/2014/main" id="{60FBB92D-83BF-D7F0-29B9-5B3DD474BD6E}"/>
              </a:ext>
            </a:extLst>
          </p:cNvPr>
          <p:cNvSpPr txBox="1"/>
          <p:nvPr/>
        </p:nvSpPr>
        <p:spPr>
          <a:xfrm>
            <a:off x="7647318" y="5486560"/>
            <a:ext cx="4455784" cy="646331"/>
          </a:xfrm>
          <a:prstGeom prst="rect">
            <a:avLst/>
          </a:prstGeom>
          <a:noFill/>
          <a:ln w="19050">
            <a:solidFill>
              <a:srgbClr val="FF0000"/>
            </a:solidFill>
          </a:ln>
        </p:spPr>
        <p:txBody>
          <a:bodyPr wrap="square" rtlCol="0">
            <a:spAutoFit/>
          </a:bodyPr>
          <a:lstStyle/>
          <a:p>
            <a:pPr algn="just"/>
            <a:r>
              <a:rPr lang="en-SG" dirty="0"/>
              <a:t>9. After you are done with your workout, click this button to end the activity.</a:t>
            </a:r>
          </a:p>
        </p:txBody>
      </p:sp>
      <p:cxnSp>
        <p:nvCxnSpPr>
          <p:cNvPr id="64" name="Straight Arrow Connector 63">
            <a:extLst>
              <a:ext uri="{FF2B5EF4-FFF2-40B4-BE49-F238E27FC236}">
                <a16:creationId xmlns:a16="http://schemas.microsoft.com/office/drawing/2014/main" id="{89B63BFF-E733-2729-4CC4-F5CEEF4DACAE}"/>
              </a:ext>
            </a:extLst>
          </p:cNvPr>
          <p:cNvCxnSpPr>
            <a:cxnSpLocks/>
            <a:stCxn id="56" idx="1"/>
            <a:endCxn id="22" idx="3"/>
          </p:cNvCxnSpPr>
          <p:nvPr/>
        </p:nvCxnSpPr>
        <p:spPr>
          <a:xfrm flipH="1">
            <a:off x="7029450" y="5809726"/>
            <a:ext cx="617868" cy="6839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136D5A1-2C7E-4A85-CBCB-1CBD374270AA}"/>
              </a:ext>
            </a:extLst>
          </p:cNvPr>
          <p:cNvSpPr>
            <a:spLocks noGrp="1"/>
          </p:cNvSpPr>
          <p:nvPr>
            <p:ph type="title"/>
          </p:nvPr>
        </p:nvSpPr>
        <p:spPr>
          <a:xfrm>
            <a:off x="838200" y="365125"/>
            <a:ext cx="10515600" cy="1325563"/>
          </a:xfrm>
        </p:spPr>
        <p:txBody>
          <a:bodyPr/>
          <a:lstStyle/>
          <a:p>
            <a:r>
              <a:rPr lang="en-SG" dirty="0"/>
              <a:t>Logging your SFT using the application</a:t>
            </a:r>
          </a:p>
        </p:txBody>
      </p:sp>
      <p:sp>
        <p:nvSpPr>
          <p:cNvPr id="22" name="Rectangle 21">
            <a:extLst>
              <a:ext uri="{FF2B5EF4-FFF2-40B4-BE49-F238E27FC236}">
                <a16:creationId xmlns:a16="http://schemas.microsoft.com/office/drawing/2014/main" id="{7BA0A3C3-9DFF-023C-2609-47B839C47C1B}"/>
              </a:ext>
            </a:extLst>
          </p:cNvPr>
          <p:cNvSpPr/>
          <p:nvPr/>
        </p:nvSpPr>
        <p:spPr>
          <a:xfrm>
            <a:off x="5164930" y="5795963"/>
            <a:ext cx="1864520" cy="1643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172351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9C71C-F875-98CE-502B-32CF0FBA5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1E3FB-1139-5E32-8A96-D0EE3F572FF2}"/>
              </a:ext>
            </a:extLst>
          </p:cNvPr>
          <p:cNvSpPr>
            <a:spLocks noGrp="1"/>
          </p:cNvSpPr>
          <p:nvPr>
            <p:ph type="ctrTitle"/>
          </p:nvPr>
        </p:nvSpPr>
        <p:spPr/>
        <p:txBody>
          <a:bodyPr/>
          <a:lstStyle/>
          <a:p>
            <a:r>
              <a:rPr lang="en-SG" dirty="0"/>
              <a:t>User Guide for Checking the SFT Record</a:t>
            </a:r>
          </a:p>
        </p:txBody>
      </p:sp>
      <p:sp>
        <p:nvSpPr>
          <p:cNvPr id="3" name="Subtitle 2">
            <a:extLst>
              <a:ext uri="{FF2B5EF4-FFF2-40B4-BE49-F238E27FC236}">
                <a16:creationId xmlns:a16="http://schemas.microsoft.com/office/drawing/2014/main" id="{61D7D562-A717-4421-2795-40C15275F62A}"/>
              </a:ext>
            </a:extLst>
          </p:cNvPr>
          <p:cNvSpPr>
            <a:spLocks noGrp="1"/>
          </p:cNvSpPr>
          <p:nvPr>
            <p:ph type="subTitle" idx="1"/>
          </p:nvPr>
        </p:nvSpPr>
        <p:spPr/>
        <p:txBody>
          <a:bodyPr/>
          <a:lstStyle/>
          <a:p>
            <a:r>
              <a:rPr lang="en-SG" dirty="0"/>
              <a:t>For Commanders</a:t>
            </a:r>
          </a:p>
        </p:txBody>
      </p:sp>
    </p:spTree>
    <p:extLst>
      <p:ext uri="{BB962C8B-B14F-4D97-AF65-F5344CB8AC3E}">
        <p14:creationId xmlns:p14="http://schemas.microsoft.com/office/powerpoint/2010/main" val="2695849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C4C86-C2A6-C89F-F468-DEB9DDD48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13A69D-8827-1A5C-5A01-F1B1089C4EC5}"/>
              </a:ext>
            </a:extLst>
          </p:cNvPr>
          <p:cNvSpPr>
            <a:spLocks noGrp="1"/>
          </p:cNvSpPr>
          <p:nvPr>
            <p:ph type="title"/>
          </p:nvPr>
        </p:nvSpPr>
        <p:spPr/>
        <p:txBody>
          <a:bodyPr/>
          <a:lstStyle/>
          <a:p>
            <a:r>
              <a:rPr lang="en-SG" dirty="0"/>
              <a:t>Google Sheet</a:t>
            </a:r>
          </a:p>
        </p:txBody>
      </p:sp>
      <p:sp>
        <p:nvSpPr>
          <p:cNvPr id="3" name="Content Placeholder 2">
            <a:extLst>
              <a:ext uri="{FF2B5EF4-FFF2-40B4-BE49-F238E27FC236}">
                <a16:creationId xmlns:a16="http://schemas.microsoft.com/office/drawing/2014/main" id="{D559CAD9-9F9E-7765-3662-99F18462F176}"/>
              </a:ext>
            </a:extLst>
          </p:cNvPr>
          <p:cNvSpPr>
            <a:spLocks noGrp="1"/>
          </p:cNvSpPr>
          <p:nvPr>
            <p:ph idx="1"/>
          </p:nvPr>
        </p:nvSpPr>
        <p:spPr>
          <a:xfrm>
            <a:off x="838200" y="1825625"/>
            <a:ext cx="10515600" cy="1743075"/>
          </a:xfrm>
        </p:spPr>
        <p:txBody>
          <a:bodyPr/>
          <a:lstStyle/>
          <a:p>
            <a:pPr marL="0" indent="0" algn="just">
              <a:buNone/>
            </a:pPr>
            <a:r>
              <a:rPr lang="en-SG" dirty="0"/>
              <a:t>All activities will be logged in Google Sheets. Only selected commanders (S3 Dept, OCs, CSMs) will be able to edit the logs. All commanders will be able to view the logs </a:t>
            </a:r>
            <a:r>
              <a:rPr lang="en-SG" dirty="0">
                <a:hlinkClick r:id="rId2"/>
              </a:rPr>
              <a:t>here</a:t>
            </a:r>
            <a:r>
              <a:rPr lang="en-SG" dirty="0"/>
              <a:t>.</a:t>
            </a:r>
          </a:p>
        </p:txBody>
      </p:sp>
    </p:spTree>
    <p:extLst>
      <p:ext uri="{BB962C8B-B14F-4D97-AF65-F5344CB8AC3E}">
        <p14:creationId xmlns:p14="http://schemas.microsoft.com/office/powerpoint/2010/main" val="1808718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9E590-2E98-27A9-8D5A-E6721235A17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388DD83-1323-FA63-3864-257A6A9681C7}"/>
              </a:ext>
            </a:extLst>
          </p:cNvPr>
          <p:cNvPicPr>
            <a:picLocks noChangeAspect="1"/>
          </p:cNvPicPr>
          <p:nvPr/>
        </p:nvPicPr>
        <p:blipFill>
          <a:blip r:embed="rId2"/>
          <a:stretch>
            <a:fillRect/>
          </a:stretch>
        </p:blipFill>
        <p:spPr>
          <a:xfrm>
            <a:off x="0" y="1445941"/>
            <a:ext cx="12192000" cy="5412059"/>
          </a:xfrm>
          <a:prstGeom prst="rect">
            <a:avLst/>
          </a:prstGeom>
        </p:spPr>
      </p:pic>
      <p:sp>
        <p:nvSpPr>
          <p:cNvPr id="56" name="TextBox 55">
            <a:extLst>
              <a:ext uri="{FF2B5EF4-FFF2-40B4-BE49-F238E27FC236}">
                <a16:creationId xmlns:a16="http://schemas.microsoft.com/office/drawing/2014/main" id="{D9C972F9-BF51-C1ED-0277-02FFFE26772F}"/>
              </a:ext>
            </a:extLst>
          </p:cNvPr>
          <p:cNvSpPr txBox="1"/>
          <p:nvPr/>
        </p:nvSpPr>
        <p:spPr>
          <a:xfrm>
            <a:off x="5370843" y="4151970"/>
            <a:ext cx="4455784" cy="646331"/>
          </a:xfrm>
          <a:prstGeom prst="rect">
            <a:avLst/>
          </a:prstGeom>
          <a:noFill/>
          <a:ln w="19050">
            <a:solidFill>
              <a:srgbClr val="FF0000"/>
            </a:solidFill>
          </a:ln>
        </p:spPr>
        <p:txBody>
          <a:bodyPr wrap="square" rtlCol="0">
            <a:spAutoFit/>
          </a:bodyPr>
          <a:lstStyle/>
          <a:p>
            <a:pPr algn="just"/>
            <a:r>
              <a:rPr lang="en-SG" dirty="0"/>
              <a:t>To edit the SFT checklist, simply edit cells in Column A.</a:t>
            </a:r>
          </a:p>
        </p:txBody>
      </p:sp>
      <p:cxnSp>
        <p:nvCxnSpPr>
          <p:cNvPr id="64" name="Straight Arrow Connector 63">
            <a:extLst>
              <a:ext uri="{FF2B5EF4-FFF2-40B4-BE49-F238E27FC236}">
                <a16:creationId xmlns:a16="http://schemas.microsoft.com/office/drawing/2014/main" id="{F58C66B9-3515-E37F-14B6-0AA772C85FF6}"/>
              </a:ext>
            </a:extLst>
          </p:cNvPr>
          <p:cNvCxnSpPr>
            <a:cxnSpLocks/>
            <a:stCxn id="56" idx="1"/>
            <a:endCxn id="22" idx="3"/>
          </p:cNvCxnSpPr>
          <p:nvPr/>
        </p:nvCxnSpPr>
        <p:spPr>
          <a:xfrm flipH="1" flipV="1">
            <a:off x="4476750" y="4469607"/>
            <a:ext cx="894093" cy="552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872E3C3D-DDB3-93B2-E8D5-0B69E02B06BC}"/>
              </a:ext>
            </a:extLst>
          </p:cNvPr>
          <p:cNvSpPr>
            <a:spLocks noGrp="1"/>
          </p:cNvSpPr>
          <p:nvPr>
            <p:ph type="title"/>
          </p:nvPr>
        </p:nvSpPr>
        <p:spPr>
          <a:xfrm>
            <a:off x="838200" y="365125"/>
            <a:ext cx="10515600" cy="1325563"/>
          </a:xfrm>
        </p:spPr>
        <p:txBody>
          <a:bodyPr/>
          <a:lstStyle/>
          <a:p>
            <a:r>
              <a:rPr lang="en-SG" dirty="0"/>
              <a:t>Configuring the SFT Checklist </a:t>
            </a:r>
            <a:r>
              <a:rPr lang="en-SG" sz="2000" dirty="0"/>
              <a:t>(Only for Designated Commanders)</a:t>
            </a:r>
            <a:r>
              <a:rPr lang="en-SG" dirty="0"/>
              <a:t>  </a:t>
            </a:r>
          </a:p>
        </p:txBody>
      </p:sp>
      <p:sp>
        <p:nvSpPr>
          <p:cNvPr id="22" name="Rectangle 21">
            <a:extLst>
              <a:ext uri="{FF2B5EF4-FFF2-40B4-BE49-F238E27FC236}">
                <a16:creationId xmlns:a16="http://schemas.microsoft.com/office/drawing/2014/main" id="{5EFAC38E-AD3C-9000-C55D-FCA73AD5BE91}"/>
              </a:ext>
            </a:extLst>
          </p:cNvPr>
          <p:cNvSpPr/>
          <p:nvPr/>
        </p:nvSpPr>
        <p:spPr>
          <a:xfrm>
            <a:off x="354805" y="2928938"/>
            <a:ext cx="4121945" cy="30813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14">
            <a:extLst>
              <a:ext uri="{FF2B5EF4-FFF2-40B4-BE49-F238E27FC236}">
                <a16:creationId xmlns:a16="http://schemas.microsoft.com/office/drawing/2014/main" id="{F6DFB287-4BD3-2DEB-55B5-2A503DEB5549}"/>
              </a:ext>
            </a:extLst>
          </p:cNvPr>
          <p:cNvSpPr/>
          <p:nvPr/>
        </p:nvSpPr>
        <p:spPr>
          <a:xfrm>
            <a:off x="354804" y="6010274"/>
            <a:ext cx="4121945" cy="8477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TextBox 15">
            <a:extLst>
              <a:ext uri="{FF2B5EF4-FFF2-40B4-BE49-F238E27FC236}">
                <a16:creationId xmlns:a16="http://schemas.microsoft.com/office/drawing/2014/main" id="{260EB343-D941-FAE7-7131-C98C5939A1CF}"/>
              </a:ext>
            </a:extLst>
          </p:cNvPr>
          <p:cNvSpPr txBox="1"/>
          <p:nvPr/>
        </p:nvSpPr>
        <p:spPr>
          <a:xfrm>
            <a:off x="5370843" y="6110970"/>
            <a:ext cx="4455784" cy="646331"/>
          </a:xfrm>
          <a:prstGeom prst="rect">
            <a:avLst/>
          </a:prstGeom>
          <a:noFill/>
          <a:ln w="19050">
            <a:solidFill>
              <a:srgbClr val="FF0000"/>
            </a:solidFill>
          </a:ln>
        </p:spPr>
        <p:txBody>
          <a:bodyPr wrap="square" rtlCol="0">
            <a:spAutoFit/>
          </a:bodyPr>
          <a:lstStyle/>
          <a:p>
            <a:pPr algn="just"/>
            <a:r>
              <a:rPr lang="en-SG" dirty="0"/>
              <a:t>To add/ delete questions in the checklist, add/ delete a new row in Column A.</a:t>
            </a:r>
          </a:p>
        </p:txBody>
      </p:sp>
      <p:cxnSp>
        <p:nvCxnSpPr>
          <p:cNvPr id="17" name="Straight Arrow Connector 16">
            <a:extLst>
              <a:ext uri="{FF2B5EF4-FFF2-40B4-BE49-F238E27FC236}">
                <a16:creationId xmlns:a16="http://schemas.microsoft.com/office/drawing/2014/main" id="{B48F4A90-2F1C-A9A4-6972-11D026930742}"/>
              </a:ext>
            </a:extLst>
          </p:cNvPr>
          <p:cNvCxnSpPr>
            <a:cxnSpLocks/>
            <a:stCxn id="16" idx="1"/>
            <a:endCxn id="15" idx="3"/>
          </p:cNvCxnSpPr>
          <p:nvPr/>
        </p:nvCxnSpPr>
        <p:spPr>
          <a:xfrm flipH="1">
            <a:off x="4476749" y="6434136"/>
            <a:ext cx="894094" cy="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0533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26D45-7FB3-A20D-FA82-439BC46361F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F864A42-E4D3-8A40-6C30-9673D88A11F4}"/>
              </a:ext>
            </a:extLst>
          </p:cNvPr>
          <p:cNvPicPr>
            <a:picLocks noChangeAspect="1"/>
          </p:cNvPicPr>
          <p:nvPr/>
        </p:nvPicPr>
        <p:blipFill>
          <a:blip r:embed="rId2"/>
          <a:stretch>
            <a:fillRect/>
          </a:stretch>
        </p:blipFill>
        <p:spPr>
          <a:xfrm>
            <a:off x="0" y="1695440"/>
            <a:ext cx="12192000" cy="4610955"/>
          </a:xfrm>
          <a:prstGeom prst="rect">
            <a:avLst/>
          </a:prstGeom>
        </p:spPr>
      </p:pic>
      <p:sp>
        <p:nvSpPr>
          <p:cNvPr id="10" name="Title 1">
            <a:extLst>
              <a:ext uri="{FF2B5EF4-FFF2-40B4-BE49-F238E27FC236}">
                <a16:creationId xmlns:a16="http://schemas.microsoft.com/office/drawing/2014/main" id="{0A2822DE-D7E2-8475-1551-D2A9094C45CB}"/>
              </a:ext>
            </a:extLst>
          </p:cNvPr>
          <p:cNvSpPr>
            <a:spLocks noGrp="1"/>
          </p:cNvSpPr>
          <p:nvPr>
            <p:ph type="title"/>
          </p:nvPr>
        </p:nvSpPr>
        <p:spPr>
          <a:xfrm>
            <a:off x="838200" y="365125"/>
            <a:ext cx="10515600" cy="1325563"/>
          </a:xfrm>
        </p:spPr>
        <p:txBody>
          <a:bodyPr/>
          <a:lstStyle/>
          <a:p>
            <a:r>
              <a:rPr lang="en-SG" dirty="0"/>
              <a:t>Viewing the SFT Logs </a:t>
            </a:r>
            <a:r>
              <a:rPr lang="en-SG" sz="2000" dirty="0"/>
              <a:t>(For all commanders)</a:t>
            </a:r>
            <a:r>
              <a:rPr lang="en-SG" dirty="0"/>
              <a:t>  </a:t>
            </a:r>
          </a:p>
        </p:txBody>
      </p:sp>
      <p:sp>
        <p:nvSpPr>
          <p:cNvPr id="4" name="TextBox 3">
            <a:extLst>
              <a:ext uri="{FF2B5EF4-FFF2-40B4-BE49-F238E27FC236}">
                <a16:creationId xmlns:a16="http://schemas.microsoft.com/office/drawing/2014/main" id="{B030D148-20CA-E7C6-6D41-FE0608C46A6A}"/>
              </a:ext>
            </a:extLst>
          </p:cNvPr>
          <p:cNvSpPr txBox="1"/>
          <p:nvPr/>
        </p:nvSpPr>
        <p:spPr>
          <a:xfrm>
            <a:off x="543755" y="4778983"/>
            <a:ext cx="3732969" cy="369332"/>
          </a:xfrm>
          <a:prstGeom prst="rect">
            <a:avLst/>
          </a:prstGeom>
          <a:noFill/>
          <a:ln w="19050">
            <a:solidFill>
              <a:srgbClr val="FF0000"/>
            </a:solidFill>
          </a:ln>
        </p:spPr>
        <p:txBody>
          <a:bodyPr wrap="square" rtlCol="0">
            <a:spAutoFit/>
          </a:bodyPr>
          <a:lstStyle/>
          <a:p>
            <a:pPr algn="just"/>
            <a:r>
              <a:rPr lang="en-SG" dirty="0"/>
              <a:t>1. Select the Sub-Unit you are from.</a:t>
            </a:r>
          </a:p>
        </p:txBody>
      </p:sp>
      <p:sp>
        <p:nvSpPr>
          <p:cNvPr id="5" name="Rectangle 4">
            <a:extLst>
              <a:ext uri="{FF2B5EF4-FFF2-40B4-BE49-F238E27FC236}">
                <a16:creationId xmlns:a16="http://schemas.microsoft.com/office/drawing/2014/main" id="{323AE1B3-4233-BBD9-52FE-8A807C67A2DF}"/>
              </a:ext>
            </a:extLst>
          </p:cNvPr>
          <p:cNvSpPr/>
          <p:nvPr/>
        </p:nvSpPr>
        <p:spPr>
          <a:xfrm>
            <a:off x="3800408" y="5972673"/>
            <a:ext cx="847792" cy="33372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1" name="Straight Arrow Connector 10">
            <a:extLst>
              <a:ext uri="{FF2B5EF4-FFF2-40B4-BE49-F238E27FC236}">
                <a16:creationId xmlns:a16="http://schemas.microsoft.com/office/drawing/2014/main" id="{39A5DCF9-4A51-A018-29A4-2A97671E4C56}"/>
              </a:ext>
            </a:extLst>
          </p:cNvPr>
          <p:cNvCxnSpPr>
            <a:cxnSpLocks/>
            <a:stCxn id="4" idx="2"/>
            <a:endCxn id="5" idx="0"/>
          </p:cNvCxnSpPr>
          <p:nvPr/>
        </p:nvCxnSpPr>
        <p:spPr>
          <a:xfrm>
            <a:off x="2410240" y="5148315"/>
            <a:ext cx="1814064" cy="82435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334D68A6-DB1B-E7C1-ACF0-D68285E908E2}"/>
              </a:ext>
            </a:extLst>
          </p:cNvPr>
          <p:cNvSpPr/>
          <p:nvPr/>
        </p:nvSpPr>
        <p:spPr>
          <a:xfrm>
            <a:off x="363504" y="1935845"/>
            <a:ext cx="11683184" cy="33372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TextBox 13">
            <a:extLst>
              <a:ext uri="{FF2B5EF4-FFF2-40B4-BE49-F238E27FC236}">
                <a16:creationId xmlns:a16="http://schemas.microsoft.com/office/drawing/2014/main" id="{8F5487C2-C4EA-3018-6B8A-F8F55B4B6B38}"/>
              </a:ext>
            </a:extLst>
          </p:cNvPr>
          <p:cNvSpPr txBox="1"/>
          <p:nvPr/>
        </p:nvSpPr>
        <p:spPr>
          <a:xfrm>
            <a:off x="363504" y="2896228"/>
            <a:ext cx="3654058" cy="369332"/>
          </a:xfrm>
          <a:prstGeom prst="rect">
            <a:avLst/>
          </a:prstGeom>
          <a:noFill/>
          <a:ln w="19050">
            <a:solidFill>
              <a:srgbClr val="FF0000"/>
            </a:solidFill>
          </a:ln>
        </p:spPr>
        <p:txBody>
          <a:bodyPr wrap="square" rtlCol="0">
            <a:spAutoFit/>
          </a:bodyPr>
          <a:lstStyle/>
          <a:p>
            <a:pPr algn="just"/>
            <a:r>
              <a:rPr lang="en-SG" dirty="0"/>
              <a:t>2. The logs will be displayed here.</a:t>
            </a:r>
          </a:p>
        </p:txBody>
      </p:sp>
      <p:cxnSp>
        <p:nvCxnSpPr>
          <p:cNvPr id="19" name="Straight Arrow Connector 18">
            <a:extLst>
              <a:ext uri="{FF2B5EF4-FFF2-40B4-BE49-F238E27FC236}">
                <a16:creationId xmlns:a16="http://schemas.microsoft.com/office/drawing/2014/main" id="{36581FD6-9A67-4CDF-2199-B956B3FDED8A}"/>
              </a:ext>
            </a:extLst>
          </p:cNvPr>
          <p:cNvCxnSpPr>
            <a:stCxn id="14" idx="0"/>
            <a:endCxn id="13" idx="2"/>
          </p:cNvCxnSpPr>
          <p:nvPr/>
        </p:nvCxnSpPr>
        <p:spPr>
          <a:xfrm flipV="1">
            <a:off x="2190533" y="2269566"/>
            <a:ext cx="4014563" cy="6266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587A4912-4FD6-4E78-5234-EDD8F2C4F359}"/>
              </a:ext>
            </a:extLst>
          </p:cNvPr>
          <p:cNvSpPr/>
          <p:nvPr/>
        </p:nvSpPr>
        <p:spPr>
          <a:xfrm>
            <a:off x="10439400" y="1931093"/>
            <a:ext cx="1607288" cy="33372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 name="TextBox 22">
            <a:extLst>
              <a:ext uri="{FF2B5EF4-FFF2-40B4-BE49-F238E27FC236}">
                <a16:creationId xmlns:a16="http://schemas.microsoft.com/office/drawing/2014/main" id="{A15E65E8-DE0F-B9D1-675D-E610D7DF4E32}"/>
              </a:ext>
            </a:extLst>
          </p:cNvPr>
          <p:cNvSpPr txBox="1"/>
          <p:nvPr/>
        </p:nvSpPr>
        <p:spPr>
          <a:xfrm>
            <a:off x="6707154" y="2915278"/>
            <a:ext cx="3654058" cy="923330"/>
          </a:xfrm>
          <a:prstGeom prst="rect">
            <a:avLst/>
          </a:prstGeom>
          <a:noFill/>
          <a:ln w="19050">
            <a:solidFill>
              <a:srgbClr val="FF0000"/>
            </a:solidFill>
          </a:ln>
        </p:spPr>
        <p:txBody>
          <a:bodyPr wrap="square" rtlCol="0">
            <a:spAutoFit/>
          </a:bodyPr>
          <a:lstStyle/>
          <a:p>
            <a:pPr algn="just"/>
            <a:r>
              <a:rPr lang="en-SG" dirty="0"/>
              <a:t>3. If there is no “End Time” this means that the SFT is still in progress.</a:t>
            </a:r>
          </a:p>
        </p:txBody>
      </p:sp>
      <p:cxnSp>
        <p:nvCxnSpPr>
          <p:cNvPr id="25" name="Straight Arrow Connector 24">
            <a:extLst>
              <a:ext uri="{FF2B5EF4-FFF2-40B4-BE49-F238E27FC236}">
                <a16:creationId xmlns:a16="http://schemas.microsoft.com/office/drawing/2014/main" id="{8CAF8925-617A-A8CE-FF25-428702F08968}"/>
              </a:ext>
            </a:extLst>
          </p:cNvPr>
          <p:cNvCxnSpPr>
            <a:stCxn id="23" idx="0"/>
            <a:endCxn id="21" idx="2"/>
          </p:cNvCxnSpPr>
          <p:nvPr/>
        </p:nvCxnSpPr>
        <p:spPr>
          <a:xfrm flipV="1">
            <a:off x="8534183" y="2264814"/>
            <a:ext cx="2708861" cy="65046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27" name="Picture 26">
            <a:extLst>
              <a:ext uri="{FF2B5EF4-FFF2-40B4-BE49-F238E27FC236}">
                <a16:creationId xmlns:a16="http://schemas.microsoft.com/office/drawing/2014/main" id="{76D46B97-60D1-D54B-4C5B-ED8A7F763264}"/>
              </a:ext>
            </a:extLst>
          </p:cNvPr>
          <p:cNvPicPr>
            <a:picLocks noChangeAspect="1"/>
          </p:cNvPicPr>
          <p:nvPr/>
        </p:nvPicPr>
        <p:blipFill>
          <a:blip r:embed="rId3"/>
          <a:stretch>
            <a:fillRect/>
          </a:stretch>
        </p:blipFill>
        <p:spPr>
          <a:xfrm>
            <a:off x="363504" y="4091176"/>
            <a:ext cx="11683184" cy="368074"/>
          </a:xfrm>
          <a:prstGeom prst="rect">
            <a:avLst/>
          </a:prstGeom>
        </p:spPr>
      </p:pic>
      <p:sp>
        <p:nvSpPr>
          <p:cNvPr id="30" name="Rectangle 29">
            <a:extLst>
              <a:ext uri="{FF2B5EF4-FFF2-40B4-BE49-F238E27FC236}">
                <a16:creationId xmlns:a16="http://schemas.microsoft.com/office/drawing/2014/main" id="{EDD50CE5-3E6F-D83D-9B6A-20390B8F9E3D}"/>
              </a:ext>
            </a:extLst>
          </p:cNvPr>
          <p:cNvSpPr/>
          <p:nvPr/>
        </p:nvSpPr>
        <p:spPr>
          <a:xfrm>
            <a:off x="10439400" y="4086424"/>
            <a:ext cx="1607288" cy="33372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3" name="TextBox 32">
            <a:extLst>
              <a:ext uri="{FF2B5EF4-FFF2-40B4-BE49-F238E27FC236}">
                <a16:creationId xmlns:a16="http://schemas.microsoft.com/office/drawing/2014/main" id="{8511491E-D89A-796D-E1D7-3934C0E79F96}"/>
              </a:ext>
            </a:extLst>
          </p:cNvPr>
          <p:cNvSpPr txBox="1"/>
          <p:nvPr/>
        </p:nvSpPr>
        <p:spPr>
          <a:xfrm>
            <a:off x="6707154" y="4704261"/>
            <a:ext cx="3654058" cy="646331"/>
          </a:xfrm>
          <a:prstGeom prst="rect">
            <a:avLst/>
          </a:prstGeom>
          <a:noFill/>
          <a:ln w="19050">
            <a:solidFill>
              <a:srgbClr val="FF0000"/>
            </a:solidFill>
          </a:ln>
        </p:spPr>
        <p:txBody>
          <a:bodyPr wrap="square" rtlCol="0">
            <a:spAutoFit/>
          </a:bodyPr>
          <a:lstStyle/>
          <a:p>
            <a:pPr algn="just"/>
            <a:r>
              <a:rPr lang="en-SG" dirty="0"/>
              <a:t>4. Once the SFT has finished, the “End Time” will be reflected here.</a:t>
            </a:r>
          </a:p>
        </p:txBody>
      </p:sp>
      <p:cxnSp>
        <p:nvCxnSpPr>
          <p:cNvPr id="36" name="Straight Arrow Connector 35">
            <a:extLst>
              <a:ext uri="{FF2B5EF4-FFF2-40B4-BE49-F238E27FC236}">
                <a16:creationId xmlns:a16="http://schemas.microsoft.com/office/drawing/2014/main" id="{904C62EC-EA9D-0605-4B4F-20249C1674FF}"/>
              </a:ext>
            </a:extLst>
          </p:cNvPr>
          <p:cNvCxnSpPr>
            <a:stCxn id="33" idx="3"/>
            <a:endCxn id="30" idx="2"/>
          </p:cNvCxnSpPr>
          <p:nvPr/>
        </p:nvCxnSpPr>
        <p:spPr>
          <a:xfrm flipV="1">
            <a:off x="10361212" y="4420145"/>
            <a:ext cx="881832" cy="60728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0984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5E892-84D6-D179-8923-333655BA1F16}"/>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48FFD959-7F16-19BC-45AB-E3EA9953B9F2}"/>
              </a:ext>
            </a:extLst>
          </p:cNvPr>
          <p:cNvSpPr>
            <a:spLocks noGrp="1"/>
          </p:cNvSpPr>
          <p:nvPr>
            <p:ph type="title"/>
          </p:nvPr>
        </p:nvSpPr>
        <p:spPr>
          <a:xfrm>
            <a:off x="838200" y="365125"/>
            <a:ext cx="10515600" cy="1325563"/>
          </a:xfrm>
        </p:spPr>
        <p:txBody>
          <a:bodyPr/>
          <a:lstStyle/>
          <a:p>
            <a:r>
              <a:rPr lang="en-SG" dirty="0"/>
              <a:t>Timeline for Implementation</a:t>
            </a:r>
          </a:p>
        </p:txBody>
      </p:sp>
      <p:cxnSp>
        <p:nvCxnSpPr>
          <p:cNvPr id="3" name="Straight Connector 2">
            <a:extLst>
              <a:ext uri="{FF2B5EF4-FFF2-40B4-BE49-F238E27FC236}">
                <a16:creationId xmlns:a16="http://schemas.microsoft.com/office/drawing/2014/main" id="{9765E1BA-1C34-784F-F420-16C763A1BC89}"/>
              </a:ext>
            </a:extLst>
          </p:cNvPr>
          <p:cNvCxnSpPr/>
          <p:nvPr/>
        </p:nvCxnSpPr>
        <p:spPr>
          <a:xfrm>
            <a:off x="1009650" y="3079066"/>
            <a:ext cx="10039350"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FF8ECE4-F6A0-E8E2-3EDD-4EFF534841B3}"/>
              </a:ext>
            </a:extLst>
          </p:cNvPr>
          <p:cNvCxnSpPr/>
          <p:nvPr/>
        </p:nvCxnSpPr>
        <p:spPr>
          <a:xfrm>
            <a:off x="1752600" y="2742516"/>
            <a:ext cx="0" cy="6731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8506815D-FD14-4CE8-F72D-CB4BAD1EEB54}"/>
              </a:ext>
            </a:extLst>
          </p:cNvPr>
          <p:cNvCxnSpPr/>
          <p:nvPr/>
        </p:nvCxnSpPr>
        <p:spPr>
          <a:xfrm>
            <a:off x="5905500" y="2742516"/>
            <a:ext cx="0" cy="6731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010467D-EC67-4553-B78C-FCAE0B8F109A}"/>
              </a:ext>
            </a:extLst>
          </p:cNvPr>
          <p:cNvCxnSpPr/>
          <p:nvPr/>
        </p:nvCxnSpPr>
        <p:spPr>
          <a:xfrm>
            <a:off x="10147300" y="2742516"/>
            <a:ext cx="0" cy="6731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E843BD3-C291-0FF0-768F-C98090A38DB2}"/>
              </a:ext>
            </a:extLst>
          </p:cNvPr>
          <p:cNvSpPr txBox="1"/>
          <p:nvPr/>
        </p:nvSpPr>
        <p:spPr>
          <a:xfrm>
            <a:off x="390370" y="3429000"/>
            <a:ext cx="2724460" cy="923330"/>
          </a:xfrm>
          <a:prstGeom prst="rect">
            <a:avLst/>
          </a:prstGeom>
          <a:noFill/>
        </p:spPr>
        <p:txBody>
          <a:bodyPr wrap="square" rtlCol="0">
            <a:spAutoFit/>
          </a:bodyPr>
          <a:lstStyle/>
          <a:p>
            <a:pPr algn="ctr"/>
            <a:r>
              <a:rPr lang="en-SG" b="1" dirty="0"/>
              <a:t>09/25 CO Conference</a:t>
            </a:r>
          </a:p>
          <a:p>
            <a:pPr algn="ctr"/>
            <a:r>
              <a:rPr lang="en-SG" dirty="0"/>
              <a:t>State implementing for ‘A’ Coy and ‘HQ’ Coy</a:t>
            </a:r>
          </a:p>
        </p:txBody>
      </p:sp>
      <p:sp>
        <p:nvSpPr>
          <p:cNvPr id="18" name="TextBox 17">
            <a:extLst>
              <a:ext uri="{FF2B5EF4-FFF2-40B4-BE49-F238E27FC236}">
                <a16:creationId xmlns:a16="http://schemas.microsoft.com/office/drawing/2014/main" id="{E366681D-35B1-8B75-E0D6-6FD23A3444A0}"/>
              </a:ext>
            </a:extLst>
          </p:cNvPr>
          <p:cNvSpPr txBox="1"/>
          <p:nvPr/>
        </p:nvSpPr>
        <p:spPr>
          <a:xfrm>
            <a:off x="4543270" y="3429000"/>
            <a:ext cx="2724460" cy="1477328"/>
          </a:xfrm>
          <a:prstGeom prst="rect">
            <a:avLst/>
          </a:prstGeom>
          <a:noFill/>
        </p:spPr>
        <p:txBody>
          <a:bodyPr wrap="square" rtlCol="0">
            <a:spAutoFit/>
          </a:bodyPr>
          <a:lstStyle/>
          <a:p>
            <a:pPr algn="ctr"/>
            <a:r>
              <a:rPr lang="en-SG" b="1" dirty="0"/>
              <a:t>10/25 CO Conference</a:t>
            </a:r>
          </a:p>
          <a:p>
            <a:pPr algn="ctr"/>
            <a:r>
              <a:rPr lang="en-SG" dirty="0"/>
              <a:t>State implementing for the rest of the Battalion and start handing over the project to S3 Br</a:t>
            </a:r>
          </a:p>
        </p:txBody>
      </p:sp>
      <p:sp>
        <p:nvSpPr>
          <p:cNvPr id="20" name="TextBox 19">
            <a:extLst>
              <a:ext uri="{FF2B5EF4-FFF2-40B4-BE49-F238E27FC236}">
                <a16:creationId xmlns:a16="http://schemas.microsoft.com/office/drawing/2014/main" id="{407F51BC-FD15-A329-4937-6867C357E4DF}"/>
              </a:ext>
            </a:extLst>
          </p:cNvPr>
          <p:cNvSpPr txBox="1"/>
          <p:nvPr/>
        </p:nvSpPr>
        <p:spPr>
          <a:xfrm>
            <a:off x="8629340" y="3429000"/>
            <a:ext cx="2724460" cy="923330"/>
          </a:xfrm>
          <a:prstGeom prst="rect">
            <a:avLst/>
          </a:prstGeom>
          <a:noFill/>
        </p:spPr>
        <p:txBody>
          <a:bodyPr wrap="square" rtlCol="0">
            <a:spAutoFit/>
          </a:bodyPr>
          <a:lstStyle/>
          <a:p>
            <a:pPr algn="ctr"/>
            <a:r>
              <a:rPr lang="en-SG" b="1" dirty="0"/>
              <a:t>11/25 CO Conference</a:t>
            </a:r>
          </a:p>
          <a:p>
            <a:pPr algn="ctr"/>
            <a:r>
              <a:rPr lang="en-SG" dirty="0"/>
              <a:t>Project fully handed over to S3 Br</a:t>
            </a:r>
          </a:p>
        </p:txBody>
      </p:sp>
    </p:spTree>
    <p:extLst>
      <p:ext uri="{BB962C8B-B14F-4D97-AF65-F5344CB8AC3E}">
        <p14:creationId xmlns:p14="http://schemas.microsoft.com/office/powerpoint/2010/main" val="3508243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408</TotalTime>
  <Words>494</Words>
  <Application>Microsoft Office PowerPoint</Application>
  <PresentationFormat>Widescreen</PresentationFormat>
  <Paragraphs>41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User Guide for SFT Tracker</vt:lpstr>
      <vt:lpstr>Introduction</vt:lpstr>
      <vt:lpstr>Logging your SFT using the application</vt:lpstr>
      <vt:lpstr>Logging your SFT using the application</vt:lpstr>
      <vt:lpstr>Logging your SFT using the application</vt:lpstr>
      <vt:lpstr>User Guide for Checking the SFT Record</vt:lpstr>
      <vt:lpstr>Google Sheet</vt:lpstr>
      <vt:lpstr>Configuring the SFT Checklist (Only for Designated Commanders)  </vt:lpstr>
      <vt:lpstr>Viewing the SFT Logs (For all commanders)  </vt:lpstr>
      <vt:lpstr>Timeline for Implementation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ONG HEE JET (MINDEF)</dc:creator>
  <cp:lastModifiedBy>ONG HEE JET (MINDEF)</cp:lastModifiedBy>
  <cp:revision>12</cp:revision>
  <dcterms:created xsi:type="dcterms:W3CDTF">2025-09-02T14:30:23Z</dcterms:created>
  <dcterms:modified xsi:type="dcterms:W3CDTF">2025-09-03T12:47:18Z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7b0846f-117e-4d80-a324-cfb14029dd96_Enabled">
    <vt:lpwstr>true</vt:lpwstr>
  </property>
  <property fmtid="{D5CDD505-2E9C-101B-9397-08002B2CF9AE}" pid="3" name="MSIP_Label_87b0846f-117e-4d80-a324-cfb14029dd96_SetDate">
    <vt:lpwstr>2025-09-02T14:44:09Z</vt:lpwstr>
  </property>
  <property fmtid="{D5CDD505-2E9C-101B-9397-08002B2CF9AE}" pid="4" name="MSIP_Label_87b0846f-117e-4d80-a324-cfb14029dd96_Method">
    <vt:lpwstr>Privileged</vt:lpwstr>
  </property>
  <property fmtid="{D5CDD505-2E9C-101B-9397-08002B2CF9AE}" pid="5" name="MSIP_Label_87b0846f-117e-4d80-a324-cfb14029dd96_Name">
    <vt:lpwstr>Official Open Non Sensitive</vt:lpwstr>
  </property>
  <property fmtid="{D5CDD505-2E9C-101B-9397-08002B2CF9AE}" pid="6" name="MSIP_Label_87b0846f-117e-4d80-a324-cfb14029dd96_SiteId">
    <vt:lpwstr>17558ced-9068-439c-bdf1-fe9f9e07f45e</vt:lpwstr>
  </property>
  <property fmtid="{D5CDD505-2E9C-101B-9397-08002B2CF9AE}" pid="7" name="MSIP_Label_87b0846f-117e-4d80-a324-cfb14029dd96_ActionId">
    <vt:lpwstr>44292d5c-8891-4047-af6e-81b35ca6476f</vt:lpwstr>
  </property>
  <property fmtid="{D5CDD505-2E9C-101B-9397-08002B2CF9AE}" pid="8" name="MSIP_Label_87b0846f-117e-4d80-a324-cfb14029dd96_ContentBits">
    <vt:lpwstr>0</vt:lpwstr>
  </property>
  <property fmtid="{D5CDD505-2E9C-101B-9397-08002B2CF9AE}" pid="9" name="MSIP_Label_87b0846f-117e-4d80-a324-cfb14029dd96_Tag">
    <vt:lpwstr>10, 0, 1, 1</vt:lpwstr>
  </property>
</Properties>
</file>